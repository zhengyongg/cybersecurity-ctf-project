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5" r:id="rId1"/>
  </p:sldMasterIdLst>
  <p:notesMasterIdLst>
    <p:notesMasterId r:id="rId39"/>
  </p:notesMasterIdLst>
  <p:sldIdLst>
    <p:sldId id="353" r:id="rId2"/>
    <p:sldId id="363" r:id="rId3"/>
    <p:sldId id="384" r:id="rId4"/>
    <p:sldId id="386" r:id="rId5"/>
    <p:sldId id="385" r:id="rId6"/>
    <p:sldId id="365" r:id="rId7"/>
    <p:sldId id="460" r:id="rId8"/>
    <p:sldId id="461" r:id="rId9"/>
    <p:sldId id="463" r:id="rId10"/>
    <p:sldId id="462" r:id="rId11"/>
    <p:sldId id="465" r:id="rId12"/>
    <p:sldId id="464" r:id="rId13"/>
    <p:sldId id="466" r:id="rId14"/>
    <p:sldId id="467" r:id="rId15"/>
    <p:sldId id="381" r:id="rId16"/>
    <p:sldId id="469" r:id="rId17"/>
    <p:sldId id="470" r:id="rId18"/>
    <p:sldId id="471" r:id="rId19"/>
    <p:sldId id="472" r:id="rId20"/>
    <p:sldId id="473" r:id="rId21"/>
    <p:sldId id="477" r:id="rId22"/>
    <p:sldId id="474" r:id="rId23"/>
    <p:sldId id="475" r:id="rId24"/>
    <p:sldId id="476" r:id="rId25"/>
    <p:sldId id="478" r:id="rId26"/>
    <p:sldId id="479" r:id="rId27"/>
    <p:sldId id="480" r:id="rId28"/>
    <p:sldId id="481" r:id="rId29"/>
    <p:sldId id="482" r:id="rId30"/>
    <p:sldId id="483" r:id="rId31"/>
    <p:sldId id="485" r:id="rId32"/>
    <p:sldId id="486" r:id="rId33"/>
    <p:sldId id="513" r:id="rId34"/>
    <p:sldId id="364" r:id="rId35"/>
    <p:sldId id="426" r:id="rId36"/>
    <p:sldId id="433" r:id="rId37"/>
    <p:sldId id="367"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xercise and assignments" id="{A6E53A24-E4B4-4EA6-B1CE-31A49ECF8EB9}">
          <p14:sldIdLst>
            <p14:sldId id="353"/>
          </p14:sldIdLst>
        </p14:section>
        <p14:section name="Cyber exercises" id="{AA4923B7-4C65-4760-AFAF-F41937A653C2}">
          <p14:sldIdLst>
            <p14:sldId id="363"/>
            <p14:sldId id="384"/>
            <p14:sldId id="386"/>
            <p14:sldId id="385"/>
            <p14:sldId id="365"/>
            <p14:sldId id="460"/>
            <p14:sldId id="461"/>
            <p14:sldId id="463"/>
            <p14:sldId id="462"/>
            <p14:sldId id="465"/>
            <p14:sldId id="464"/>
            <p14:sldId id="466"/>
            <p14:sldId id="467"/>
            <p14:sldId id="381"/>
            <p14:sldId id="469"/>
            <p14:sldId id="470"/>
            <p14:sldId id="471"/>
            <p14:sldId id="472"/>
            <p14:sldId id="473"/>
            <p14:sldId id="477"/>
            <p14:sldId id="474"/>
            <p14:sldId id="475"/>
            <p14:sldId id="476"/>
            <p14:sldId id="478"/>
            <p14:sldId id="479"/>
            <p14:sldId id="480"/>
            <p14:sldId id="481"/>
            <p14:sldId id="482"/>
            <p14:sldId id="483"/>
            <p14:sldId id="485"/>
            <p14:sldId id="486"/>
            <p14:sldId id="513"/>
            <p14:sldId id="364"/>
            <p14:sldId id="426"/>
            <p14:sldId id="433"/>
            <p14:sldId id="3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9ED5"/>
    <a:srgbClr val="F0F0F0"/>
    <a:srgbClr val="156081"/>
    <a:srgbClr val="FF9933"/>
    <a:srgbClr val="D9ECD1"/>
    <a:srgbClr val="FFFFFF"/>
    <a:srgbClr val="E3F2DE"/>
    <a:srgbClr val="37B8FF"/>
    <a:srgbClr val="CAECFF"/>
    <a:srgbClr val="B4856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06" autoAdjust="0"/>
    <p:restoredTop sz="85463" autoAdjust="0"/>
  </p:normalViewPr>
  <p:slideViewPr>
    <p:cSldViewPr snapToGrid="0">
      <p:cViewPr varScale="1">
        <p:scale>
          <a:sx n="54" d="100"/>
          <a:sy n="54" d="100"/>
        </p:scale>
        <p:origin x="1344" y="44"/>
      </p:cViewPr>
      <p:guideLst/>
    </p:cSldViewPr>
  </p:slideViewPr>
  <p:notesTextViewPr>
    <p:cViewPr>
      <p:scale>
        <a:sx n="75" d="100"/>
        <a:sy n="7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B85745-40B2-4783-8D73-E5BA6FF02A1E}" type="datetimeFigureOut">
              <a:rPr lang="en-US" smtClean="0"/>
              <a:t>3/21/2026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BECFB7-CFB9-4146-AC29-DEBF388A3AF5}" type="slidenum">
              <a:rPr lang="en-US" smtClean="0"/>
              <a:t>‹#›</a:t>
            </a:fld>
            <a:endParaRPr lang="en-US"/>
          </a:p>
        </p:txBody>
      </p:sp>
    </p:spTree>
    <p:extLst>
      <p:ext uri="{BB962C8B-B14F-4D97-AF65-F5344CB8AC3E}">
        <p14:creationId xmlns:p14="http://schemas.microsoft.com/office/powerpoint/2010/main" val="2736444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8D0CA-8B05-C705-7151-8442CC811F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AEF8A7-5A94-50D2-EA01-520634001E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04A4CE-C7C8-4BC9-24A3-9D345FA99BA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7BD91009-B3B9-8A8C-FCB3-321F4CB5D4A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563700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72CFF-08B0-5CD0-F0DA-3F359E5C99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6B9567-CAF6-54EF-CE76-3ED470E9DD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3252A3-0C59-9367-FA0F-7EA4B742AA3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6935A07E-2F6F-52AD-4E4B-9D4399282E9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520457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81948-F837-DB44-25E0-ED14697918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401736-A865-D4E5-5391-869D08943A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4E9924-9839-BE6B-DECD-FAA8FAFCB7D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9D774DA0-E16B-553B-BC88-A2678B41A6C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545002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5F9E0-62DB-BA94-1985-91CD4B09EB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9600C8-E5FD-EA33-6700-2BB16D5E99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7CB478-DCBB-5AA4-3986-9321E7CCF6C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E9570E47-4520-5D16-CE5C-E4CA757697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69094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129F4-9942-C173-6ADE-4B7D53E51B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0B3A3E-D5BE-D916-7997-ED49330FF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CA3C62-EC13-2AA2-39EB-65CDD8567DA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B536A768-501E-50B2-4C05-F95982111FD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152551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E3686-FA86-9260-7A8E-157F1D1711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D8BB34-A5CD-3586-D0C7-97C4002B7A13}"/>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AE8A9581-6CC1-623D-48FA-D1008674E43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180EED9F-ECA2-5FBA-7BB8-B35606D3DE4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674074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AE9A8-CFF8-9191-9526-C18057215F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2A2490-BB09-3359-6A67-C4B40B727D06}"/>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B7240DF2-D98A-B9AE-D2A0-5003A3A93B5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6A31F3DC-776E-B7D3-E5AF-1B845773101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347499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A2925-BBD4-DF5F-374E-714F3B8634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7CAC99-9B5E-5DE8-DB39-69A86547C9D6}"/>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2FA24B0E-BA16-F447-77DA-A38138A351C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3880D909-3BCD-3671-1A34-1476276E077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661167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0F970-E798-429B-46CC-92F313E81E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CD4C62-946E-F312-35FB-11DAFC520DC4}"/>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74CB9172-83D7-A321-99BA-922854CC6FF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680C87C3-3261-9C72-39A4-09D696EB94C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11846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7F9CA-DDE9-9103-4C61-DEB2130A42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BEBC68-DB23-5BF0-A8DF-5CD6657C74D5}"/>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65848788-4494-ED89-68C3-18B2A3DF03D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8ECC988C-A92E-638E-020A-700A7C572A3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179750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DC038-FA3A-5AA8-3E4C-7B7CB0526B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E3BE99-7202-E2AA-0E6B-93769C833AF1}"/>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73015D6B-F7B0-CB78-A9E1-88240E13888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B39A996E-ECA5-9D11-03E8-E205C1CF575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338529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046BD-5B44-7CBA-7413-4DED8A15C4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E702E3-1938-2A61-6829-EB9C8BE5C05C}"/>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C18492D1-BCA6-D0C7-16E1-49C37798F7E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4D67DEF5-3E50-79A9-FCA2-98E1C2C6254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381174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214C0-35A4-4227-E4A8-6C2F5AC172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E5F355-9191-D398-CF83-D367470F56D8}"/>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C403C631-9CC1-4234-9C56-6F98FD7F8D3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B0061E0B-CA96-5B42-66DF-A5208ADD031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42996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D317E-7B22-BB63-1FF9-6B8D41661E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CC4EB2-631E-E84F-4320-30CD25E63E72}"/>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322766A1-241C-73A1-03CF-DAC76784A65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18383071-4A77-C166-84AF-0B571190990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968091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D5421-B7CD-64ED-8D92-EAC351F243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C4440F-849E-CBA9-A1B1-EC0C385A927F}"/>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E7B82B0E-3C47-8EBA-04C1-B31D6B7CEA9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3DB022DA-B7B9-C1A2-FE1C-56F02A17E31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204125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74407-6F5F-F8BA-62A2-C85ECC21C4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A3F22D-5FE7-BB1F-5D14-5B31B4D18A1B}"/>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40E0E948-62F8-7051-6EA7-5C08DD96E7B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7CDFEDCE-E11B-FA42-9F55-99F05B3F381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447581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43A0D-3A46-4608-E9C2-4F732743D4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9CB84E-5A55-A5BA-F4F5-511F5F50AE30}"/>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1422D1BB-973D-5768-8215-2E328E05107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F910470E-73FD-B415-9BB9-6D19975B33D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855090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BC37F-2CB0-B296-57D8-617EE5E617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BA0716-DBA6-86D5-DE66-AC6388EF3412}"/>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84D24CC7-198C-AE2D-245B-13AC2691FAD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B233E799-DCAD-4746-1B8B-B381743BA59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495427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1A39A-BD89-4098-FFDE-F9AB9C5029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52641D-0EC6-952E-9BD8-A61154699817}"/>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8F11F1D5-50FA-7DE0-1588-ED6D86B0CBB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F0080E6D-1510-5EDB-9D37-B2B6E418D44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903586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B84FA-0918-5528-9FF6-D26950E5C1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37CBE7-2151-53D7-50E6-F3DCDAA1A6A7}"/>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27CB5202-CFF4-050D-2B31-FB200163807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324C86E5-764C-4309-C416-3C6A70BF6CC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568743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94FB9-978E-5959-10B0-5F71D49F56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91B43B-DF7A-93E0-EAB5-2747F529A759}"/>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0ED368D9-DAC7-AD4E-A89A-9670414A910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A360045E-9726-767F-4A21-EC462F94015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4946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A25D6-78A4-AFCD-ED6B-065D83D620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D06CC-598A-449E-35FE-8BA3844EAFAB}"/>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37A7BAC1-5B8C-3279-8B54-C770E884691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8DAA30CA-130A-4D31-92C0-C929EB2C891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51058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9813E-FD7A-57FE-79C4-D325725DEC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220C10-D469-FE9B-EA48-F4A0246C4FB4}"/>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F98DBC3C-705D-EDB1-B939-6B7EB1645B8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419EF7EB-F3A5-4C28-3C28-3ECA51EDF2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072319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2B2D7-98B3-7F44-5960-F0D89D5CBB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08CDB6-2288-F8BA-60BB-74AC4EF2969B}"/>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9DB146B5-D311-1907-40C2-444EF6FEB35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B722121B-BE4C-77E1-57F2-33F983E34C9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26564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5E4AF-CB84-8DC2-1FB3-0AB867F394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25FD26-3475-A11D-34AD-20EDE7462119}"/>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E1EE5FDD-24D1-DBCA-F60D-8DB5BF66E05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BDA17724-A018-8819-3E74-20FF0145B2A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69265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3EE7D-61F7-31A1-4361-2BB49D015E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3A236B-2C34-E6CF-74E3-EFE4F7E11458}"/>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B6C15EED-E0E5-BAF2-5CBB-4447743592F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70EA2DD4-C361-EF62-2B9A-3D0E934ADFA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549773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B54B7-CF3B-B183-E5FF-87C2C24C2D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FDD3F7-491C-533D-3028-AAEA2ECA18F9}"/>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D7A567B7-27E3-663E-4086-263BA078C5F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EE5AAE59-57C8-43D0-C657-D6C886AECC1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293535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CB335-6028-873F-21E8-EC185807A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3CD6D6-73F5-2483-2220-1322B6356AE1}"/>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89402283-D201-574B-A767-E93AF9797AC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D1F371EE-A58A-CD02-B922-C3395FB8807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585910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4DD60-CD8A-C267-50E4-D92C291DF4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4DFD5B-D3FF-DE82-3264-5A5985F817F3}"/>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1AE565E3-E2AA-9210-7C19-D0769C31142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84254D80-2084-AF62-B749-F9D448400C0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52646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135CB-5F03-2C22-340F-F3670906AD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233CD8-2BC0-DA97-59AA-27F0C06A97CD}"/>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DB8F477A-88C0-C534-74CD-5175D52BCD3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9657FC4C-7083-80DA-6078-E04EF3B8FC8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585388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F3C0B-965C-F861-8CC6-3137952317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7A3BD0-6E95-C4D1-AE69-BB4DEFA3CCB3}"/>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9E100229-0B73-E90C-E631-411AF6C3CB4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A3C8BCEC-1D5C-24CF-992A-A4B79610E16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2167125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D8DC7-D846-E66D-14B1-3641275483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E36DDE-5BEC-8AA4-CC94-1389F1965E0D}"/>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9F0A2205-0A65-CB6A-6875-7DA69CB36BF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9CCA5E8C-3D39-91F2-1793-A450033E07C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166789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BA6A9-DBDA-A6DD-CACB-A687921DEF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4EAF1-AE28-7B8A-B24D-15F26141820A}"/>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6083F534-4F60-40BC-8FC3-D2D0045873A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7FE3027A-CBA7-3958-AA6A-9B2809E51C9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7915493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33591-11AD-E7D9-81F9-B60A264423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48340F-902C-AB17-29B4-016AD19480C9}"/>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83E8BE35-8E2A-6DFE-2A8A-92BDA9AEB49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1y67FBfootRYlSlj4LcBrmp5BMq5XJ -&gt; password for the file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https://theevidencelocker.github.io/ -&gt; source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76552D53-4A1E-6394-2BB1-BDD68D86110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445643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B8DE6-F816-DE99-9DC8-00958082FA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9A622-2AF2-CB91-0C46-53D3589407B8}"/>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52494BB4-086D-10E0-029C-38C6747AD03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B89A04A3-461A-E740-789C-1B8592C73C1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504751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7EE6E-6767-40E1-8245-685D010B16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66D4D0-8348-6D54-D067-7F909D782B1E}"/>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0A3AAFBA-86A1-2761-384F-CB923F5FD2D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MJSWY23BONXWM5DDORTEAMRQGIZA==== -&gt; password for the file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https://theevidencelocker.github.io/ -&gt; source</a:t>
            </a:r>
          </a:p>
        </p:txBody>
      </p:sp>
      <p:sp>
        <p:nvSpPr>
          <p:cNvPr id="4" name="Slide Number Placeholder 3">
            <a:extLst>
              <a:ext uri="{FF2B5EF4-FFF2-40B4-BE49-F238E27FC236}">
                <a16:creationId xmlns:a16="http://schemas.microsoft.com/office/drawing/2014/main" id="{EB23955E-B3FB-F6FD-3F06-B08577F662E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477149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5B58F-984C-BCB3-5C34-6D7FAF8D10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A3657B-A0BA-5E6C-FD5C-90F85836F3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E1D7B7-6C47-BE96-6FDB-967CB15AD3A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221E2BCA-3712-815D-8AA9-050D78E9D81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47802072"/>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EA3C770-FE8A-4D5C-AAD7-BBBA99231AC1}" type="datetime1">
              <a:rPr lang="en-US" smtClean="0"/>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625EB417-4EC6-40A3-8089-FFEE676A186A}" type="slidenum">
              <a:rPr lang="en-US" smtClean="0"/>
              <a:t>‹#›</a:t>
            </a:fld>
            <a:endParaRPr lang="en-US"/>
          </a:p>
        </p:txBody>
      </p:sp>
    </p:spTree>
    <p:extLst>
      <p:ext uri="{BB962C8B-B14F-4D97-AF65-F5344CB8AC3E}">
        <p14:creationId xmlns:p14="http://schemas.microsoft.com/office/powerpoint/2010/main" val="3409081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3C86BC-F22F-473C-9246-02D0F46EA505}" type="datetime1">
              <a:rPr lang="en-US" smtClean="0"/>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5EB417-4EC6-40A3-8089-FFEE676A186A}" type="slidenum">
              <a:rPr lang="en-US" smtClean="0"/>
              <a:t>‹#›</a:t>
            </a:fld>
            <a:endParaRPr lang="en-US"/>
          </a:p>
        </p:txBody>
      </p:sp>
    </p:spTree>
    <p:extLst>
      <p:ext uri="{BB962C8B-B14F-4D97-AF65-F5344CB8AC3E}">
        <p14:creationId xmlns:p14="http://schemas.microsoft.com/office/powerpoint/2010/main" val="837466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E0FC89E-F72B-4896-AE1D-55BE3C662DBB}" type="datetime1">
              <a:rPr lang="en-US" smtClean="0"/>
              <a:t>3/21/2026</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625EB417-4EC6-40A3-8089-FFEE676A186A}" type="slidenum">
              <a:rPr lang="en-US" smtClean="0"/>
              <a:t>‹#›</a:t>
            </a:fld>
            <a:endParaRPr lang="en-US"/>
          </a:p>
        </p:txBody>
      </p:sp>
    </p:spTree>
    <p:extLst>
      <p:ext uri="{BB962C8B-B14F-4D97-AF65-F5344CB8AC3E}">
        <p14:creationId xmlns:p14="http://schemas.microsoft.com/office/powerpoint/2010/main" val="1000045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30AB87F-7C6A-4CA1-90E4-9C346F1E6799}" type="datetime1">
              <a:rPr lang="en-US" smtClean="0"/>
              <a:t>3/21/2026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5EB417-4EC6-40A3-8089-FFEE676A186A}" type="slidenum">
              <a:rPr lang="en-US" smtClean="0"/>
              <a:t>‹#›</a:t>
            </a:fld>
            <a:endParaRPr lang="en-US"/>
          </a:p>
        </p:txBody>
      </p:sp>
    </p:spTree>
    <p:extLst>
      <p:ext uri="{BB962C8B-B14F-4D97-AF65-F5344CB8AC3E}">
        <p14:creationId xmlns:p14="http://schemas.microsoft.com/office/powerpoint/2010/main" val="14783128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D2C1FF-CDD0-4878-A6BD-A4A3C8FAC08D}" type="datetime1">
              <a:rPr lang="en-US" smtClean="0"/>
              <a:t>3/21/2026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25EB417-4EC6-40A3-8089-FFEE676A186A}" type="slidenum">
              <a:rPr lang="en-US" smtClean="0"/>
              <a:t>‹#›</a:t>
            </a:fld>
            <a:endParaRPr lang="en-US"/>
          </a:p>
        </p:txBody>
      </p:sp>
    </p:spTree>
    <p:extLst>
      <p:ext uri="{BB962C8B-B14F-4D97-AF65-F5344CB8AC3E}">
        <p14:creationId xmlns:p14="http://schemas.microsoft.com/office/powerpoint/2010/main" val="1479227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A945EF7-94D5-46B4-B356-2E1A51D543C4}" type="datetime1">
              <a:rPr lang="en-US" smtClean="0"/>
              <a:t>3/21/2026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25EB417-4EC6-40A3-8089-FFEE676A186A}" type="slidenum">
              <a:rPr lang="en-US" smtClean="0"/>
              <a:t>‹#›</a:t>
            </a:fld>
            <a:endParaRPr lang="en-US"/>
          </a:p>
        </p:txBody>
      </p:sp>
    </p:spTree>
    <p:extLst>
      <p:ext uri="{BB962C8B-B14F-4D97-AF65-F5344CB8AC3E}">
        <p14:creationId xmlns:p14="http://schemas.microsoft.com/office/powerpoint/2010/main" val="3346102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C5D98D-2741-4773-BFD9-D75ECF73136F}" type="datetime1">
              <a:rPr lang="en-US" smtClean="0"/>
              <a:t>3/21/2026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25EB417-4EC6-40A3-8089-FFEE676A186A}" type="slidenum">
              <a:rPr lang="en-US" smtClean="0"/>
              <a:t>‹#›</a:t>
            </a:fld>
            <a:endParaRPr lang="en-US"/>
          </a:p>
        </p:txBody>
      </p:sp>
    </p:spTree>
    <p:extLst>
      <p:ext uri="{BB962C8B-B14F-4D97-AF65-F5344CB8AC3E}">
        <p14:creationId xmlns:p14="http://schemas.microsoft.com/office/powerpoint/2010/main" val="1781230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2D76E73-2083-437B-90F9-E6F70A1DF249}" type="datetime1">
              <a:rPr lang="en-US" smtClean="0"/>
              <a:t>3/21/2026</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625EB417-4EC6-40A3-8089-FFEE676A186A}" type="slidenum">
              <a:rPr lang="en-US" smtClean="0"/>
              <a:t>‹#›</a:t>
            </a:fld>
            <a:endParaRPr lang="en-US"/>
          </a:p>
        </p:txBody>
      </p:sp>
    </p:spTree>
    <p:extLst>
      <p:ext uri="{BB962C8B-B14F-4D97-AF65-F5344CB8AC3E}">
        <p14:creationId xmlns:p14="http://schemas.microsoft.com/office/powerpoint/2010/main" val="4162661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AF002CC-F157-416F-B73A-FE18EC1F7070}" type="datetime1">
              <a:rPr lang="en-US" smtClean="0"/>
              <a:t>3/21/2026</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625EB417-4EC6-40A3-8089-FFEE676A186A}" type="slidenum">
              <a:rPr lang="en-US" smtClean="0"/>
              <a:t>‹#›</a:t>
            </a:fld>
            <a:endParaRPr lang="en-US"/>
          </a:p>
        </p:txBody>
      </p:sp>
    </p:spTree>
    <p:extLst>
      <p:ext uri="{BB962C8B-B14F-4D97-AF65-F5344CB8AC3E}">
        <p14:creationId xmlns:p14="http://schemas.microsoft.com/office/powerpoint/2010/main" val="3977020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5C42E9-C1E4-4E16-82F8-3CDCEA11E3EB}" type="datetime1">
              <a:rPr lang="en-US" smtClean="0"/>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5EB417-4EC6-40A3-8089-FFEE676A186A}" type="slidenum">
              <a:rPr lang="en-US" smtClean="0"/>
              <a:t>‹#›</a:t>
            </a:fld>
            <a:endParaRPr lang="en-US"/>
          </a:p>
        </p:txBody>
      </p:sp>
    </p:spTree>
    <p:extLst>
      <p:ext uri="{BB962C8B-B14F-4D97-AF65-F5344CB8AC3E}">
        <p14:creationId xmlns:p14="http://schemas.microsoft.com/office/powerpoint/2010/main" val="11629719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49D0CB-5FA6-4BDE-B7A7-C68424C75F76}" type="datetime1">
              <a:rPr lang="en-US" smtClean="0"/>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5EB417-4EC6-40A3-8089-FFEE676A186A}" type="slidenum">
              <a:rPr lang="en-US" smtClean="0"/>
              <a:t>‹#›</a:t>
            </a:fld>
            <a:endParaRPr lang="en-US"/>
          </a:p>
        </p:txBody>
      </p:sp>
    </p:spTree>
    <p:extLst>
      <p:ext uri="{BB962C8B-B14F-4D97-AF65-F5344CB8AC3E}">
        <p14:creationId xmlns:p14="http://schemas.microsoft.com/office/powerpoint/2010/main" val="9287253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DD508B80-4E64-4925-8BAA-E04FCDFB48C5}" type="datetime1">
              <a:rPr lang="en-US" smtClean="0"/>
              <a:t>3/21/2026</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625EB417-4EC6-40A3-8089-FFEE676A186A}" type="slidenum">
              <a:rPr lang="en-US" smtClean="0"/>
              <a:t>‹#›</a:t>
            </a:fld>
            <a:endParaRPr lang="en-US"/>
          </a:p>
        </p:txBody>
      </p:sp>
    </p:spTree>
    <p:extLst>
      <p:ext uri="{BB962C8B-B14F-4D97-AF65-F5344CB8AC3E}">
        <p14:creationId xmlns:p14="http://schemas.microsoft.com/office/powerpoint/2010/main" val="2162197491"/>
      </p:ext>
    </p:extLst>
  </p:cSld>
  <p:clrMap bg1="lt1" tx1="dk1" bg2="lt2" tx2="dk2" accent1="accent1" accent2="accent2" accent3="accent3" accent4="accent4" accent5="accent5" accent6="accent6" hlink="hlink" folHlink="folHlink"/>
  <p:sldLayoutIdLst>
    <p:sldLayoutId id="2147483816" r:id="rId1"/>
    <p:sldLayoutId id="2147483817" r:id="rId2"/>
    <p:sldLayoutId id="2147483818" r:id="rId3"/>
    <p:sldLayoutId id="2147483819" r:id="rId4"/>
    <p:sldLayoutId id="2147483820" r:id="rId5"/>
    <p:sldLayoutId id="2147483821" r:id="rId6"/>
    <p:sldLayoutId id="2147483822" r:id="rId7"/>
    <p:sldLayoutId id="2147483823" r:id="rId8"/>
    <p:sldLayoutId id="2147483824" r:id="rId9"/>
    <p:sldLayoutId id="2147483825" r:id="rId10"/>
    <p:sldLayoutId id="2147483826" r:id="rId11"/>
  </p:sldLayoutIdLst>
  <p:hf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95FDF-8B53-DD70-4754-493737612C7B}"/>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5CF50C82-6F84-1A05-9FFD-79597B6EDF84}"/>
              </a:ext>
            </a:extLst>
          </p:cNvPr>
          <p:cNvSpPr>
            <a:spLocks noGrp="1"/>
          </p:cNvSpPr>
          <p:nvPr>
            <p:ph type="title"/>
          </p:nvPr>
        </p:nvSpPr>
        <p:spPr/>
        <p:txBody>
          <a:bodyPr/>
          <a:lstStyle/>
          <a:p>
            <a:r>
              <a:rPr lang="en-US" b="1" dirty="0">
                <a:solidFill>
                  <a:srgbClr val="163E64"/>
                </a:solidFill>
                <a:latin typeface="Calibri" panose="020F0502020204030204" pitchFamily="34" charset="0"/>
              </a:rPr>
              <a:t>Assignment</a:t>
            </a:r>
          </a:p>
        </p:txBody>
      </p:sp>
      <p:sp>
        <p:nvSpPr>
          <p:cNvPr id="3" name="Content Placeholder 2">
            <a:extLst>
              <a:ext uri="{FF2B5EF4-FFF2-40B4-BE49-F238E27FC236}">
                <a16:creationId xmlns:a16="http://schemas.microsoft.com/office/drawing/2014/main" id="{250ABD1B-792C-7A92-CFF7-F55F2B0A5B5D}"/>
              </a:ext>
            </a:extLst>
          </p:cNvPr>
          <p:cNvSpPr>
            <a:spLocks noGrp="1"/>
          </p:cNvSpPr>
          <p:nvPr>
            <p:ph idx="1"/>
          </p:nvPr>
        </p:nvSpPr>
        <p:spPr/>
        <p:txBody>
          <a:bodyPr>
            <a:noAutofit/>
          </a:bodyPr>
          <a:lstStyle/>
          <a:p>
            <a:pPr algn="just"/>
            <a:r>
              <a:rPr lang="en-US" sz="1800" dirty="0"/>
              <a:t>Your team has been tasked to go on-site to attend a cyber incident. Due to the seriousness of the incident, analysis must be performed on-site in your prepared </a:t>
            </a:r>
            <a:r>
              <a:rPr lang="en-US" sz="1800" b="1" dirty="0"/>
              <a:t>Digital Forensic Investigation Environment</a:t>
            </a:r>
            <a:r>
              <a:rPr lang="en-US" sz="1800" dirty="0"/>
              <a:t>. </a:t>
            </a:r>
          </a:p>
          <a:p>
            <a:pPr algn="just"/>
            <a:r>
              <a:rPr lang="en-US" sz="1800" dirty="0"/>
              <a:t>Hence, you must:</a:t>
            </a:r>
          </a:p>
          <a:p>
            <a:pPr marL="800100" lvl="1" indent="-342900" algn="just">
              <a:buFont typeface="+mj-lt"/>
              <a:buAutoNum type="arabicPeriod"/>
            </a:pPr>
            <a:r>
              <a:rPr lang="en-US" sz="1800" dirty="0"/>
              <a:t>Design your investigation strategy</a:t>
            </a:r>
            <a:endParaRPr lang="en-US" sz="1400" dirty="0"/>
          </a:p>
          <a:p>
            <a:pPr marL="800100" lvl="1" indent="-342900" algn="just">
              <a:buFont typeface="+mj-lt"/>
              <a:buAutoNum type="arabicPeriod"/>
            </a:pPr>
            <a:r>
              <a:rPr lang="en-US" sz="1800" dirty="0"/>
              <a:t>Build your forensic virtual environment </a:t>
            </a:r>
          </a:p>
          <a:p>
            <a:pPr marL="800100" lvl="1" indent="-342900" algn="just">
              <a:buFont typeface="+mj-lt"/>
              <a:buAutoNum type="arabicPeriod"/>
            </a:pPr>
            <a:r>
              <a:rPr lang="en-US" sz="1800" dirty="0"/>
              <a:t>Justify your tool selection. Minimally you should have:</a:t>
            </a:r>
          </a:p>
          <a:p>
            <a:pPr lvl="3" algn="just"/>
            <a:r>
              <a:rPr lang="en-SG" sz="1400" dirty="0"/>
              <a:t>A Disk &amp; File System Forensics tool (e.g. FTK Imager)</a:t>
            </a:r>
          </a:p>
          <a:p>
            <a:pPr lvl="3" algn="just"/>
            <a:r>
              <a:rPr lang="en-SG" sz="1400" dirty="0"/>
              <a:t>A Memory Forensics tool (e.g. Vol2/3)</a:t>
            </a:r>
          </a:p>
          <a:p>
            <a:pPr lvl="3" algn="just"/>
            <a:r>
              <a:rPr lang="en-US" sz="1400" dirty="0"/>
              <a:t>A </a:t>
            </a:r>
            <a:r>
              <a:rPr lang="en-SG" sz="1400" dirty="0"/>
              <a:t>Network Forensics tool (e.g. </a:t>
            </a:r>
            <a:r>
              <a:rPr lang="en-SG" sz="1400" dirty="0" err="1"/>
              <a:t>WireShark</a:t>
            </a:r>
            <a:r>
              <a:rPr lang="en-SG" sz="1400" dirty="0"/>
              <a:t>)</a:t>
            </a:r>
            <a:endParaRPr lang="en-US" sz="1400" dirty="0"/>
          </a:p>
          <a:p>
            <a:pPr marL="800100" lvl="1" indent="-342900" algn="just">
              <a:buFont typeface="+mj-lt"/>
              <a:buAutoNum type="arabicPeriod"/>
            </a:pPr>
            <a:r>
              <a:rPr lang="en-US" sz="1800" dirty="0"/>
              <a:t>Demonstrate how those tools could be used</a:t>
            </a:r>
          </a:p>
          <a:p>
            <a:pPr marL="800100" lvl="1" indent="-342900" algn="just">
              <a:buFont typeface="+mj-lt"/>
              <a:buAutoNum type="arabicPeriod"/>
            </a:pPr>
            <a:r>
              <a:rPr lang="en-US" sz="1800" dirty="0"/>
              <a:t>Prepare to demonstrate readiness for a simulated investigation</a:t>
            </a:r>
          </a:p>
          <a:p>
            <a:pPr algn="just"/>
            <a:r>
              <a:rPr lang="en-US" sz="1800" dirty="0"/>
              <a:t>Deliverable by ____ in either PowerPoint slides or Word document, after the end of the exercise.</a:t>
            </a:r>
          </a:p>
        </p:txBody>
      </p:sp>
      <p:sp>
        <p:nvSpPr>
          <p:cNvPr id="5" name="Slide Number Placeholder 4">
            <a:extLst>
              <a:ext uri="{FF2B5EF4-FFF2-40B4-BE49-F238E27FC236}">
                <a16:creationId xmlns:a16="http://schemas.microsoft.com/office/drawing/2014/main" id="{A597BB79-7357-86DD-A850-949280D1270F}"/>
              </a:ext>
            </a:extLst>
          </p:cNvPr>
          <p:cNvSpPr>
            <a:spLocks noGrp="1"/>
          </p:cNvSpPr>
          <p:nvPr>
            <p:ph type="sldNum" sz="quarter" idx="12"/>
          </p:nvPr>
        </p:nvSpPr>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625EB417-4EC6-40A3-8089-FFEE676A186A}"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67778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F36F4D-AAC3-5136-1F95-58AA947FB5CD}"/>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2D5251F7-BA77-1113-C54F-E71CBC0D534E}"/>
              </a:ext>
            </a:extLst>
          </p:cNvPr>
          <p:cNvSpPr>
            <a:spLocks noGrp="1"/>
          </p:cNvSpPr>
          <p:nvPr>
            <p:ph type="title"/>
          </p:nvPr>
        </p:nvSpPr>
        <p:spPr>
          <a:xfrm>
            <a:off x="838200" y="400751"/>
            <a:ext cx="10515600" cy="1325563"/>
          </a:xfrm>
        </p:spPr>
        <p:txBody>
          <a:bodyPr/>
          <a:lstStyle/>
          <a:p>
            <a:r>
              <a:rPr lang="en-US" b="1" dirty="0">
                <a:solidFill>
                  <a:srgbClr val="163E64"/>
                </a:solidFill>
                <a:latin typeface="Calibri" panose="020F0502020204030204" pitchFamily="34" charset="0"/>
              </a:rPr>
              <a:t>Cyber Exercises</a:t>
            </a:r>
          </a:p>
        </p:txBody>
      </p:sp>
      <p:sp>
        <p:nvSpPr>
          <p:cNvPr id="3" name="Content Placeholder 2">
            <a:extLst>
              <a:ext uri="{FF2B5EF4-FFF2-40B4-BE49-F238E27FC236}">
                <a16:creationId xmlns:a16="http://schemas.microsoft.com/office/drawing/2014/main" id="{A3E1FEA9-850A-12E8-D616-92CBC4451A98}"/>
              </a:ext>
            </a:extLst>
          </p:cNvPr>
          <p:cNvSpPr>
            <a:spLocks noGrp="1"/>
          </p:cNvSpPr>
          <p:nvPr>
            <p:ph idx="1"/>
          </p:nvPr>
        </p:nvSpPr>
        <p:spPr/>
        <p:txBody>
          <a:bodyPr>
            <a:noAutofit/>
          </a:bodyPr>
          <a:lstStyle/>
          <a:p>
            <a:pPr algn="just"/>
            <a:r>
              <a:rPr lang="en-US" sz="1800" dirty="0"/>
              <a:t>Duration: 4 hours</a:t>
            </a:r>
          </a:p>
          <a:p>
            <a:pPr algn="just"/>
            <a:r>
              <a:rPr lang="en-US" sz="1800" dirty="0"/>
              <a:t>Objectives:</a:t>
            </a:r>
          </a:p>
          <a:p>
            <a:pPr marL="457200" lvl="1" indent="0" algn="just">
              <a:buNone/>
            </a:pPr>
            <a:r>
              <a:rPr lang="en-US" sz="1800" dirty="0"/>
              <a:t>To enable students  to analyze  forensic artifacts to determine the attribution of a cyber operation and evaluate if the digital evidence meets the evidentiary standards required to ascertain the investigation.</a:t>
            </a:r>
          </a:p>
          <a:p>
            <a:pPr algn="just"/>
            <a:r>
              <a:rPr lang="en-US" sz="1800" dirty="0"/>
              <a:t>Resources: </a:t>
            </a:r>
          </a:p>
          <a:p>
            <a:pPr lvl="1" algn="just"/>
            <a:r>
              <a:rPr lang="en-US" sz="1800" dirty="0"/>
              <a:t>Pre-built forensic environment done as part of the assignment</a:t>
            </a:r>
          </a:p>
          <a:p>
            <a:pPr lvl="1" algn="just"/>
            <a:r>
              <a:rPr lang="en-US" sz="1800" dirty="0"/>
              <a:t>Windows OS with at least 8GB RAM (16GB+ recommended)</a:t>
            </a:r>
          </a:p>
          <a:p>
            <a:pPr algn="just"/>
            <a:r>
              <a:rPr lang="en-US" sz="1800" dirty="0"/>
              <a:t>Group work – 3 pax/ team [3 teams in total]</a:t>
            </a:r>
          </a:p>
          <a:p>
            <a:pPr algn="just"/>
            <a:r>
              <a:rPr lang="en-US" sz="1800" dirty="0"/>
              <a:t>Each team to choose three exercises that their team would like to work on (1 from each type)</a:t>
            </a:r>
          </a:p>
          <a:p>
            <a:pPr algn="just"/>
            <a:r>
              <a:rPr lang="en-US" sz="1800" dirty="0"/>
              <a:t>Deliverable – Presentation [15 mins/ group]</a:t>
            </a:r>
          </a:p>
        </p:txBody>
      </p:sp>
      <p:sp>
        <p:nvSpPr>
          <p:cNvPr id="5" name="Slide Number Placeholder 4">
            <a:extLst>
              <a:ext uri="{FF2B5EF4-FFF2-40B4-BE49-F238E27FC236}">
                <a16:creationId xmlns:a16="http://schemas.microsoft.com/office/drawing/2014/main" id="{903B0E4F-5710-3A7A-1BC0-86CD900ADC20}"/>
              </a:ext>
            </a:extLst>
          </p:cNvPr>
          <p:cNvSpPr>
            <a:spLocks noGrp="1"/>
          </p:cNvSpPr>
          <p:nvPr>
            <p:ph type="sldNum" sz="quarter" idx="12"/>
          </p:nvPr>
        </p:nvSpPr>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625EB417-4EC6-40A3-8089-FFEE676A186A}"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57429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9EACF09-1031-3450-9E68-5E18944BD79A}"/>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FD737168-96D0-8B88-BA2A-EBC0311FC470}"/>
              </a:ext>
            </a:extLst>
          </p:cNvPr>
          <p:cNvSpPr>
            <a:spLocks noGrp="1"/>
          </p:cNvSpPr>
          <p:nvPr>
            <p:ph type="title"/>
          </p:nvPr>
        </p:nvSpPr>
        <p:spPr>
          <a:xfrm>
            <a:off x="838200" y="400751"/>
            <a:ext cx="10515600" cy="1325563"/>
          </a:xfrm>
        </p:spPr>
        <p:txBody>
          <a:bodyPr/>
          <a:lstStyle/>
          <a:p>
            <a:r>
              <a:rPr lang="en-US" b="1" dirty="0">
                <a:solidFill>
                  <a:srgbClr val="163E64"/>
                </a:solidFill>
                <a:latin typeface="Calibri" panose="020F0502020204030204" pitchFamily="34" charset="0"/>
              </a:rPr>
              <a:t>Network Exercise (A)</a:t>
            </a:r>
          </a:p>
        </p:txBody>
      </p:sp>
      <p:sp>
        <p:nvSpPr>
          <p:cNvPr id="3" name="Content Placeholder 2">
            <a:extLst>
              <a:ext uri="{FF2B5EF4-FFF2-40B4-BE49-F238E27FC236}">
                <a16:creationId xmlns:a16="http://schemas.microsoft.com/office/drawing/2014/main" id="{46472756-6B92-2043-0665-A2B3A5345BF9}"/>
              </a:ext>
            </a:extLst>
          </p:cNvPr>
          <p:cNvSpPr>
            <a:spLocks noGrp="1"/>
          </p:cNvSpPr>
          <p:nvPr>
            <p:ph idx="1"/>
          </p:nvPr>
        </p:nvSpPr>
        <p:spPr/>
        <p:txBody>
          <a:bodyPr>
            <a:noAutofit/>
          </a:bodyPr>
          <a:lstStyle/>
          <a:p>
            <a:pPr algn="just"/>
            <a:r>
              <a:rPr lang="en-US" sz="1800" dirty="0"/>
              <a:t>Description: </a:t>
            </a:r>
          </a:p>
          <a:p>
            <a:pPr lvl="1" algn="just"/>
            <a:r>
              <a:rPr lang="en-US" sz="1800" dirty="0"/>
              <a:t>Analyze a real-world malware infection from a packet capture.</a:t>
            </a:r>
          </a:p>
          <a:p>
            <a:pPr algn="just"/>
            <a:r>
              <a:rPr lang="en-US" sz="1800" dirty="0"/>
              <a:t>To do:</a:t>
            </a:r>
          </a:p>
          <a:p>
            <a:pPr lvl="1" algn="just"/>
            <a:r>
              <a:rPr lang="en-US" sz="1800" dirty="0"/>
              <a:t>Provide details on the compromised Windows client host (Provide IP address / MAC address / hostname etc. and any additional details)</a:t>
            </a:r>
          </a:p>
          <a:p>
            <a:pPr lvl="1" algn="just"/>
            <a:r>
              <a:rPr lang="en-US" sz="1800" dirty="0"/>
              <a:t>Identify the </a:t>
            </a:r>
            <a:r>
              <a:rPr lang="en-SG" sz="1800" dirty="0"/>
              <a:t>Indicators of Compromise (IOCs)</a:t>
            </a:r>
            <a:r>
              <a:rPr lang="en-US" sz="1800" dirty="0"/>
              <a:t> present in this PCAP (e.g. Malicious domains, IP addresses, files etc.)</a:t>
            </a:r>
          </a:p>
          <a:p>
            <a:pPr lvl="1" algn="just"/>
            <a:r>
              <a:rPr lang="en-US" sz="1800" dirty="0"/>
              <a:t>Identify the specific malware/scripts generating this activity and a brief description of its capabilities</a:t>
            </a:r>
          </a:p>
          <a:p>
            <a:pPr lvl="1" algn="just"/>
            <a:r>
              <a:rPr lang="en-US" sz="1800" dirty="0"/>
              <a:t>(BONUS) – There is a malicious Word document that can be extracted from this PCAP. Find the name and search it online to see what it does! DON’T open it on your own host…</a:t>
            </a:r>
          </a:p>
          <a:p>
            <a:pPr algn="just"/>
            <a:r>
              <a:rPr lang="en-US" sz="1800" dirty="0"/>
              <a:t>Evidence:</a:t>
            </a:r>
          </a:p>
          <a:p>
            <a:pPr lvl="1" algn="just"/>
            <a:r>
              <a:rPr lang="en-US" sz="1800" dirty="0"/>
              <a:t>NetworkEx_1.PCAP</a:t>
            </a:r>
          </a:p>
        </p:txBody>
      </p:sp>
      <p:sp>
        <p:nvSpPr>
          <p:cNvPr id="5" name="Slide Number Placeholder 4">
            <a:extLst>
              <a:ext uri="{FF2B5EF4-FFF2-40B4-BE49-F238E27FC236}">
                <a16:creationId xmlns:a16="http://schemas.microsoft.com/office/drawing/2014/main" id="{ED3C7C75-4EED-1DD6-C4BB-DDE368E84DE2}"/>
              </a:ext>
            </a:extLst>
          </p:cNvPr>
          <p:cNvSpPr>
            <a:spLocks noGrp="1"/>
          </p:cNvSpPr>
          <p:nvPr>
            <p:ph type="sldNum" sz="quarter" idx="12"/>
          </p:nvPr>
        </p:nvSpPr>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625EB417-4EC6-40A3-8089-FFEE676A186A}"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24021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07989B5-0888-B4B9-7505-22026699D693}"/>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6ABCEB9E-26D0-334A-25E4-26EC999F5C3B}"/>
              </a:ext>
            </a:extLst>
          </p:cNvPr>
          <p:cNvSpPr>
            <a:spLocks noGrp="1"/>
          </p:cNvSpPr>
          <p:nvPr>
            <p:ph type="title"/>
          </p:nvPr>
        </p:nvSpPr>
        <p:spPr>
          <a:xfrm>
            <a:off x="838200" y="400751"/>
            <a:ext cx="10515600" cy="1325563"/>
          </a:xfrm>
        </p:spPr>
        <p:txBody>
          <a:bodyPr/>
          <a:lstStyle/>
          <a:p>
            <a:r>
              <a:rPr lang="en-US" b="1" dirty="0">
                <a:solidFill>
                  <a:srgbClr val="163E64"/>
                </a:solidFill>
                <a:latin typeface="Calibri" panose="020F0502020204030204" pitchFamily="34" charset="0"/>
              </a:rPr>
              <a:t>Network Exercise (B)</a:t>
            </a:r>
          </a:p>
        </p:txBody>
      </p:sp>
      <p:sp>
        <p:nvSpPr>
          <p:cNvPr id="3" name="Content Placeholder 2">
            <a:extLst>
              <a:ext uri="{FF2B5EF4-FFF2-40B4-BE49-F238E27FC236}">
                <a16:creationId xmlns:a16="http://schemas.microsoft.com/office/drawing/2014/main" id="{9C2DD5CA-7C5D-26CB-29CB-6D1B8C94F6AA}"/>
              </a:ext>
            </a:extLst>
          </p:cNvPr>
          <p:cNvSpPr>
            <a:spLocks noGrp="1"/>
          </p:cNvSpPr>
          <p:nvPr>
            <p:ph idx="1"/>
          </p:nvPr>
        </p:nvSpPr>
        <p:spPr/>
        <p:txBody>
          <a:bodyPr>
            <a:noAutofit/>
          </a:bodyPr>
          <a:lstStyle/>
          <a:p>
            <a:pPr algn="just"/>
            <a:r>
              <a:rPr lang="en-US" sz="1800" dirty="0"/>
              <a:t>Description: </a:t>
            </a:r>
          </a:p>
          <a:p>
            <a:pPr lvl="1" algn="just"/>
            <a:r>
              <a:rPr lang="en-US" sz="1800" dirty="0"/>
              <a:t>Analyze a real-world malware infection from a packet capture.</a:t>
            </a:r>
          </a:p>
          <a:p>
            <a:pPr algn="just"/>
            <a:r>
              <a:rPr lang="en-US" sz="1800" dirty="0"/>
              <a:t>To do:</a:t>
            </a:r>
          </a:p>
          <a:p>
            <a:pPr lvl="1" algn="just"/>
            <a:r>
              <a:rPr lang="en-US" sz="1800" dirty="0"/>
              <a:t>Provide details on the compromised Windows client host (Provide IP address / MAC address / hostname etc. and any additional details)</a:t>
            </a:r>
          </a:p>
          <a:p>
            <a:pPr lvl="1" algn="just"/>
            <a:r>
              <a:rPr lang="en-US" sz="1800" dirty="0"/>
              <a:t>Identify the </a:t>
            </a:r>
            <a:r>
              <a:rPr lang="en-SG" sz="1800" dirty="0"/>
              <a:t>Indicators of Compromise (IOCs)</a:t>
            </a:r>
            <a:r>
              <a:rPr lang="en-US" sz="1800" dirty="0"/>
              <a:t> present in this PCAP (e.g. Malicious domains, IP addresses, files etc.)</a:t>
            </a:r>
          </a:p>
          <a:p>
            <a:pPr lvl="1" algn="just"/>
            <a:r>
              <a:rPr lang="en-US" sz="1800" dirty="0"/>
              <a:t>Identify the specific malware/scripts generating this activity and a brief description of its capabilities</a:t>
            </a:r>
          </a:p>
          <a:p>
            <a:pPr lvl="1" algn="just"/>
            <a:r>
              <a:rPr lang="en-US" sz="1800" dirty="0"/>
              <a:t>(BONUS) – There is a Base64 encoded PowerShell script, decode it and find out what it does!</a:t>
            </a:r>
          </a:p>
          <a:p>
            <a:pPr algn="just"/>
            <a:r>
              <a:rPr lang="en-US" sz="1800" dirty="0"/>
              <a:t>Evidence:</a:t>
            </a:r>
          </a:p>
          <a:p>
            <a:pPr lvl="1" algn="just"/>
            <a:r>
              <a:rPr lang="en-US" sz="1800" dirty="0" err="1"/>
              <a:t>NetworkEx_B.PCAP</a:t>
            </a:r>
            <a:endParaRPr lang="en-US" sz="1800" dirty="0"/>
          </a:p>
        </p:txBody>
      </p:sp>
      <p:sp>
        <p:nvSpPr>
          <p:cNvPr id="5" name="Slide Number Placeholder 4">
            <a:extLst>
              <a:ext uri="{FF2B5EF4-FFF2-40B4-BE49-F238E27FC236}">
                <a16:creationId xmlns:a16="http://schemas.microsoft.com/office/drawing/2014/main" id="{BDEC7CC2-1E50-B119-C3E6-44C4ACE0FC3B}"/>
              </a:ext>
            </a:extLst>
          </p:cNvPr>
          <p:cNvSpPr>
            <a:spLocks noGrp="1"/>
          </p:cNvSpPr>
          <p:nvPr>
            <p:ph type="sldNum" sz="quarter" idx="12"/>
          </p:nvPr>
        </p:nvSpPr>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625EB417-4EC6-40A3-8089-FFEE676A186A}"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957982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E6C7D37-2505-8DF5-E872-B11356130689}"/>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2AAD6978-0D18-AE69-BF96-1C4872A9EB13}"/>
              </a:ext>
            </a:extLst>
          </p:cNvPr>
          <p:cNvSpPr>
            <a:spLocks noGrp="1"/>
          </p:cNvSpPr>
          <p:nvPr>
            <p:ph type="title"/>
          </p:nvPr>
        </p:nvSpPr>
        <p:spPr>
          <a:xfrm>
            <a:off x="838200" y="400751"/>
            <a:ext cx="10515600" cy="1325563"/>
          </a:xfrm>
        </p:spPr>
        <p:txBody>
          <a:bodyPr/>
          <a:lstStyle/>
          <a:p>
            <a:r>
              <a:rPr lang="en-US" b="1" dirty="0">
                <a:solidFill>
                  <a:srgbClr val="163E64"/>
                </a:solidFill>
                <a:latin typeface="Calibri" panose="020F0502020204030204" pitchFamily="34" charset="0"/>
              </a:rPr>
              <a:t>Network Exercise (C)</a:t>
            </a:r>
          </a:p>
        </p:txBody>
      </p:sp>
      <p:sp>
        <p:nvSpPr>
          <p:cNvPr id="3" name="Content Placeholder 2">
            <a:extLst>
              <a:ext uri="{FF2B5EF4-FFF2-40B4-BE49-F238E27FC236}">
                <a16:creationId xmlns:a16="http://schemas.microsoft.com/office/drawing/2014/main" id="{DCFFF44B-A11F-538E-8A67-126A65A1A556}"/>
              </a:ext>
            </a:extLst>
          </p:cNvPr>
          <p:cNvSpPr>
            <a:spLocks noGrp="1"/>
          </p:cNvSpPr>
          <p:nvPr>
            <p:ph idx="1"/>
          </p:nvPr>
        </p:nvSpPr>
        <p:spPr/>
        <p:txBody>
          <a:bodyPr>
            <a:noAutofit/>
          </a:bodyPr>
          <a:lstStyle/>
          <a:p>
            <a:pPr algn="just"/>
            <a:r>
              <a:rPr lang="en-US" sz="1800" dirty="0"/>
              <a:t>Description: </a:t>
            </a:r>
          </a:p>
          <a:p>
            <a:pPr lvl="1" algn="just"/>
            <a:r>
              <a:rPr lang="en-US" sz="1800" dirty="0"/>
              <a:t>Analyze a real-world malware infection from a packet capture.</a:t>
            </a:r>
          </a:p>
          <a:p>
            <a:pPr algn="just"/>
            <a:r>
              <a:rPr lang="en-US" sz="1800" dirty="0"/>
              <a:t>To do:</a:t>
            </a:r>
          </a:p>
          <a:p>
            <a:pPr lvl="1" algn="just"/>
            <a:r>
              <a:rPr lang="en-US" sz="1800" dirty="0"/>
              <a:t>Provide details on the compromised Windows client host (Provide IP address / MAC address / hostname etc. and any additional details)</a:t>
            </a:r>
          </a:p>
          <a:p>
            <a:pPr lvl="1" algn="just"/>
            <a:r>
              <a:rPr lang="en-US" sz="1800" dirty="0"/>
              <a:t>Identify the </a:t>
            </a:r>
            <a:r>
              <a:rPr lang="en-SG" sz="1800" dirty="0"/>
              <a:t>Indicators of Compromise (IOCs)</a:t>
            </a:r>
            <a:r>
              <a:rPr lang="en-US" sz="1800" dirty="0"/>
              <a:t> present in this PCAP (e.g. Malicious domains, IP addresses, files etc.)</a:t>
            </a:r>
          </a:p>
          <a:p>
            <a:pPr lvl="1" algn="just"/>
            <a:r>
              <a:rPr lang="en-US" sz="1800" dirty="0"/>
              <a:t>Identify the specific malware/scripts generating this activity and a brief description of its capabilities</a:t>
            </a:r>
          </a:p>
          <a:p>
            <a:pPr lvl="1" algn="just"/>
            <a:r>
              <a:rPr lang="en-US" sz="1800" dirty="0"/>
              <a:t>(BONUS) – There is a screenshot sent from the victim to the C2, extract it and see what was sent. (Hint: look for a PNG string in the TCP stream!)</a:t>
            </a:r>
          </a:p>
          <a:p>
            <a:pPr algn="just"/>
            <a:r>
              <a:rPr lang="en-US" sz="1800" dirty="0"/>
              <a:t>Evidence:</a:t>
            </a:r>
          </a:p>
          <a:p>
            <a:pPr lvl="1" algn="just"/>
            <a:r>
              <a:rPr lang="en-US" sz="1800" dirty="0" err="1"/>
              <a:t>NetworkEx_C.PCAP</a:t>
            </a:r>
            <a:endParaRPr lang="en-US" sz="1800" dirty="0"/>
          </a:p>
        </p:txBody>
      </p:sp>
      <p:sp>
        <p:nvSpPr>
          <p:cNvPr id="5" name="Slide Number Placeholder 4">
            <a:extLst>
              <a:ext uri="{FF2B5EF4-FFF2-40B4-BE49-F238E27FC236}">
                <a16:creationId xmlns:a16="http://schemas.microsoft.com/office/drawing/2014/main" id="{856496C6-B371-CE81-211E-9879EA30A466}"/>
              </a:ext>
            </a:extLst>
          </p:cNvPr>
          <p:cNvSpPr>
            <a:spLocks noGrp="1"/>
          </p:cNvSpPr>
          <p:nvPr>
            <p:ph type="sldNum" sz="quarter" idx="12"/>
          </p:nvPr>
        </p:nvSpPr>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625EB417-4EC6-40A3-8089-FFEE676A186A}"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5</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441658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D3E1F-BA13-77DA-CA50-380B5CA88C4A}"/>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7D2F0942-0AB8-2E31-8F5A-B5E44184FC22}"/>
              </a:ext>
            </a:extLst>
          </p:cNvPr>
          <p:cNvSpPr>
            <a:spLocks noGrp="1"/>
          </p:cNvSpPr>
          <p:nvPr>
            <p:ph type="title"/>
          </p:nvPr>
        </p:nvSpPr>
        <p:spPr>
          <a:xfrm>
            <a:off x="838200" y="365125"/>
            <a:ext cx="10515600" cy="1325563"/>
          </a:xfrm>
        </p:spPr>
        <p:txBody>
          <a:bodyPr/>
          <a:lstStyle/>
          <a:p>
            <a:r>
              <a:rPr lang="en-US" b="1" dirty="0">
                <a:solidFill>
                  <a:srgbClr val="163E64"/>
                </a:solidFill>
                <a:latin typeface="Calibri" panose="020F0502020204030204" pitchFamily="34" charset="0"/>
              </a:rPr>
              <a:t>Memory Exercise (A)</a:t>
            </a:r>
          </a:p>
        </p:txBody>
      </p:sp>
      <p:sp>
        <p:nvSpPr>
          <p:cNvPr id="3" name="Content Placeholder 2">
            <a:extLst>
              <a:ext uri="{FF2B5EF4-FFF2-40B4-BE49-F238E27FC236}">
                <a16:creationId xmlns:a16="http://schemas.microsoft.com/office/drawing/2014/main" id="{4B138D8D-DF41-54A3-3216-B55EA0BA70B4}"/>
              </a:ext>
            </a:extLst>
          </p:cNvPr>
          <p:cNvSpPr>
            <a:spLocks noGrp="1"/>
          </p:cNvSpPr>
          <p:nvPr>
            <p:ph idx="1"/>
          </p:nvPr>
        </p:nvSpPr>
        <p:spPr/>
        <p:txBody>
          <a:bodyPr>
            <a:noAutofit/>
          </a:bodyPr>
          <a:lstStyle/>
          <a:p>
            <a:pPr marL="0" indent="0">
              <a:buNone/>
            </a:pPr>
            <a:r>
              <a:rPr lang="en-US" sz="1800" dirty="0"/>
              <a:t>A Windows system was suspected to be infected with malware similar to </a:t>
            </a:r>
            <a:r>
              <a:rPr lang="en-US" sz="1800" b="1" dirty="0"/>
              <a:t>Stuxnet</a:t>
            </a:r>
            <a:r>
              <a:rPr lang="en-US" sz="1800" dirty="0"/>
              <a:t>. You have been given a RAM memory dump from the infected system. </a:t>
            </a:r>
          </a:p>
          <a:p>
            <a:pPr algn="just"/>
            <a:r>
              <a:rPr lang="en-US" sz="1800" dirty="0"/>
              <a:t>Main Objective:</a:t>
            </a:r>
          </a:p>
          <a:p>
            <a:pPr lvl="1" algn="just"/>
            <a:r>
              <a:rPr lang="en-US" sz="1800" dirty="0"/>
              <a:t>Identify and list any malicious C2 connections </a:t>
            </a:r>
          </a:p>
          <a:p>
            <a:pPr lvl="1" algn="just"/>
            <a:r>
              <a:rPr lang="en-US" sz="1800" dirty="0"/>
              <a:t>Identify suspicious processes</a:t>
            </a:r>
          </a:p>
          <a:p>
            <a:pPr lvl="1" algn="just"/>
            <a:r>
              <a:rPr lang="en-US" sz="1800" dirty="0"/>
              <a:t>Identify any potential persistence mechanisms</a:t>
            </a:r>
          </a:p>
          <a:p>
            <a:pPr lvl="1" algn="just"/>
            <a:r>
              <a:rPr lang="en-US" sz="1800" dirty="0"/>
              <a:t>Give a brief summary of the malware found and its capabilities</a:t>
            </a:r>
          </a:p>
          <a:p>
            <a:pPr algn="just"/>
            <a:r>
              <a:rPr lang="en-US" sz="1800" dirty="0"/>
              <a:t>Evidence:</a:t>
            </a:r>
          </a:p>
          <a:p>
            <a:pPr lvl="1" algn="just"/>
            <a:r>
              <a:rPr lang="en-US" sz="1800" dirty="0" err="1"/>
              <a:t>Stuxnet.vmem</a:t>
            </a:r>
            <a:endParaRPr lang="en-US" sz="1800" dirty="0"/>
          </a:p>
          <a:p>
            <a:r>
              <a:rPr lang="en-US" sz="1800" dirty="0"/>
              <a:t>Use </a:t>
            </a:r>
            <a:r>
              <a:rPr lang="en-US" sz="1800" b="1" dirty="0"/>
              <a:t>Volatility</a:t>
            </a:r>
            <a:r>
              <a:rPr lang="en-US" sz="1800" dirty="0"/>
              <a:t> to investigate what happened on the system.</a:t>
            </a:r>
          </a:p>
          <a:p>
            <a:pPr marL="0" indent="0">
              <a:buNone/>
            </a:pPr>
            <a:endParaRPr lang="en-US" sz="1800" dirty="0"/>
          </a:p>
          <a:p>
            <a:pPr marL="0" indent="0" algn="just">
              <a:buNone/>
            </a:pPr>
            <a:endParaRPr lang="en-US" sz="1800" dirty="0"/>
          </a:p>
        </p:txBody>
      </p:sp>
    </p:spTree>
    <p:extLst>
      <p:ext uri="{BB962C8B-B14F-4D97-AF65-F5344CB8AC3E}">
        <p14:creationId xmlns:p14="http://schemas.microsoft.com/office/powerpoint/2010/main" val="3439317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6FE69-1E23-883F-C1A6-A924D057E531}"/>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94A6FFA0-9D83-4B6E-D578-D59E9F81649D}"/>
              </a:ext>
            </a:extLst>
          </p:cNvPr>
          <p:cNvSpPr>
            <a:spLocks noGrp="1"/>
          </p:cNvSpPr>
          <p:nvPr>
            <p:ph type="title"/>
          </p:nvPr>
        </p:nvSpPr>
        <p:spPr>
          <a:xfrm>
            <a:off x="838200" y="365125"/>
            <a:ext cx="10515600" cy="1325563"/>
          </a:xfrm>
        </p:spPr>
        <p:txBody>
          <a:bodyPr/>
          <a:lstStyle/>
          <a:p>
            <a:r>
              <a:rPr lang="en-US" b="1" dirty="0">
                <a:solidFill>
                  <a:srgbClr val="163E64"/>
                </a:solidFill>
                <a:latin typeface="Calibri" panose="020F0502020204030204" pitchFamily="34" charset="0"/>
              </a:rPr>
              <a:t>Memory Exercise (A)</a:t>
            </a:r>
          </a:p>
        </p:txBody>
      </p:sp>
      <p:sp>
        <p:nvSpPr>
          <p:cNvPr id="3" name="Content Placeholder 2">
            <a:extLst>
              <a:ext uri="{FF2B5EF4-FFF2-40B4-BE49-F238E27FC236}">
                <a16:creationId xmlns:a16="http://schemas.microsoft.com/office/drawing/2014/main" id="{C82202B8-07F8-C603-AC50-50538BF624C9}"/>
              </a:ext>
            </a:extLst>
          </p:cNvPr>
          <p:cNvSpPr>
            <a:spLocks noGrp="1"/>
          </p:cNvSpPr>
          <p:nvPr>
            <p:ph idx="1"/>
          </p:nvPr>
        </p:nvSpPr>
        <p:spPr/>
        <p:txBody>
          <a:bodyPr>
            <a:noAutofit/>
          </a:bodyPr>
          <a:lstStyle/>
          <a:p>
            <a:pPr marL="0" indent="0">
              <a:buNone/>
            </a:pPr>
            <a:r>
              <a:rPr lang="en-US" sz="1800" b="1" dirty="0"/>
              <a:t>Step 1 — Identify the Operating System</a:t>
            </a:r>
          </a:p>
          <a:p>
            <a:r>
              <a:rPr lang="en-US" sz="1800" dirty="0"/>
              <a:t>Before running analysis, you must determine the Windows version used in the memory image.</a:t>
            </a:r>
          </a:p>
          <a:p>
            <a:pPr marL="0" indent="0">
              <a:buNone/>
            </a:pPr>
            <a:endParaRPr lang="en-US" sz="1800" dirty="0"/>
          </a:p>
          <a:p>
            <a:pPr marL="0" indent="0">
              <a:buNone/>
            </a:pPr>
            <a:r>
              <a:rPr lang="en-US" sz="1800" b="1" dirty="0"/>
              <a:t>Questions</a:t>
            </a:r>
          </a:p>
          <a:p>
            <a:r>
              <a:rPr lang="en-US" sz="1800" dirty="0"/>
              <a:t>What </a:t>
            </a:r>
            <a:r>
              <a:rPr lang="en-US" sz="1800" b="1" dirty="0"/>
              <a:t>Windows version</a:t>
            </a:r>
            <a:r>
              <a:rPr lang="en-US" sz="1800" dirty="0"/>
              <a:t> is the memory image running?</a:t>
            </a:r>
          </a:p>
          <a:p>
            <a:r>
              <a:rPr lang="en-US" sz="1800" dirty="0"/>
              <a:t>What </a:t>
            </a:r>
            <a:r>
              <a:rPr lang="en-US" sz="1800" b="1" dirty="0"/>
              <a:t>profile</a:t>
            </a:r>
            <a:r>
              <a:rPr lang="en-US" sz="1800" dirty="0"/>
              <a:t> should be used for further analysis?</a:t>
            </a:r>
          </a:p>
          <a:p>
            <a:pPr marL="0" indent="0" algn="just">
              <a:buNone/>
            </a:pPr>
            <a:endParaRPr lang="en-US" sz="1800" dirty="0"/>
          </a:p>
        </p:txBody>
      </p:sp>
    </p:spTree>
    <p:extLst>
      <p:ext uri="{BB962C8B-B14F-4D97-AF65-F5344CB8AC3E}">
        <p14:creationId xmlns:p14="http://schemas.microsoft.com/office/powerpoint/2010/main" val="3951957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AB147-3B3E-091C-C4E7-D1FF1EDAB95B}"/>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B7638C2B-563C-E18D-7CAA-D71D5C816E0D}"/>
              </a:ext>
            </a:extLst>
          </p:cNvPr>
          <p:cNvSpPr>
            <a:spLocks noGrp="1"/>
          </p:cNvSpPr>
          <p:nvPr>
            <p:ph type="title"/>
          </p:nvPr>
        </p:nvSpPr>
        <p:spPr>
          <a:xfrm>
            <a:off x="838200" y="365125"/>
            <a:ext cx="10515600" cy="1325563"/>
          </a:xfrm>
        </p:spPr>
        <p:txBody>
          <a:bodyPr/>
          <a:lstStyle/>
          <a:p>
            <a:r>
              <a:rPr lang="en-US" b="1" dirty="0">
                <a:solidFill>
                  <a:srgbClr val="163E64"/>
                </a:solidFill>
                <a:latin typeface="Calibri" panose="020F0502020204030204" pitchFamily="34" charset="0"/>
              </a:rPr>
              <a:t>Memory Exercise (A)</a:t>
            </a:r>
          </a:p>
        </p:txBody>
      </p:sp>
      <p:sp>
        <p:nvSpPr>
          <p:cNvPr id="3" name="Content Placeholder 2">
            <a:extLst>
              <a:ext uri="{FF2B5EF4-FFF2-40B4-BE49-F238E27FC236}">
                <a16:creationId xmlns:a16="http://schemas.microsoft.com/office/drawing/2014/main" id="{CA8ABDD2-1A00-670D-3066-E6CA32400EE9}"/>
              </a:ext>
            </a:extLst>
          </p:cNvPr>
          <p:cNvSpPr>
            <a:spLocks noGrp="1"/>
          </p:cNvSpPr>
          <p:nvPr>
            <p:ph idx="1"/>
          </p:nvPr>
        </p:nvSpPr>
        <p:spPr/>
        <p:txBody>
          <a:bodyPr>
            <a:noAutofit/>
          </a:bodyPr>
          <a:lstStyle/>
          <a:p>
            <a:pPr marL="0" indent="0">
              <a:buNone/>
            </a:pPr>
            <a:r>
              <a:rPr lang="en-US" sz="1800" b="1" dirty="0"/>
              <a:t>Step 2 — Identify and list any malicious C2 connections </a:t>
            </a:r>
          </a:p>
          <a:p>
            <a:r>
              <a:rPr lang="en-US" sz="1800" dirty="0"/>
              <a:t>Check if any program is communicating with external systems.</a:t>
            </a:r>
          </a:p>
          <a:p>
            <a:r>
              <a:rPr lang="en-US" sz="1800" dirty="0"/>
              <a:t>Malware often connects to a </a:t>
            </a:r>
            <a:r>
              <a:rPr lang="en-US" sz="1800" b="1" dirty="0"/>
              <a:t>Command &amp; Control (C2) server</a:t>
            </a:r>
            <a:r>
              <a:rPr lang="en-US" sz="1800" dirty="0"/>
              <a:t> to receive instructions.</a:t>
            </a:r>
          </a:p>
          <a:p>
            <a:endParaRPr lang="en-US" sz="1800" dirty="0"/>
          </a:p>
          <a:p>
            <a:pPr marL="0" indent="0">
              <a:buNone/>
            </a:pPr>
            <a:r>
              <a:rPr lang="en-US" sz="1800" b="1" dirty="0"/>
              <a:t>Questions</a:t>
            </a:r>
          </a:p>
          <a:p>
            <a:r>
              <a:rPr lang="en-US" sz="1800" dirty="0"/>
              <a:t>Which process has an active network connection?</a:t>
            </a:r>
          </a:p>
          <a:p>
            <a:r>
              <a:rPr lang="en-US" sz="1800" dirty="0"/>
              <a:t>What IP address is the suspicious process connecting to?</a:t>
            </a:r>
          </a:p>
          <a:p>
            <a:r>
              <a:rPr lang="en-US" sz="1800" dirty="0"/>
              <a:t>What port number is being used?</a:t>
            </a:r>
          </a:p>
          <a:p>
            <a:pPr marL="0" indent="0" algn="just">
              <a:buNone/>
            </a:pPr>
            <a:endParaRPr lang="en-US" sz="1800" dirty="0"/>
          </a:p>
        </p:txBody>
      </p:sp>
    </p:spTree>
    <p:extLst>
      <p:ext uri="{BB962C8B-B14F-4D97-AF65-F5344CB8AC3E}">
        <p14:creationId xmlns:p14="http://schemas.microsoft.com/office/powerpoint/2010/main" val="157377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08232-55AC-C0A1-30FC-E1A4F5BA4E1A}"/>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9B7B4D0B-D58D-F357-18F0-2ADE19E49518}"/>
              </a:ext>
            </a:extLst>
          </p:cNvPr>
          <p:cNvSpPr>
            <a:spLocks noGrp="1"/>
          </p:cNvSpPr>
          <p:nvPr>
            <p:ph type="title"/>
          </p:nvPr>
        </p:nvSpPr>
        <p:spPr>
          <a:xfrm>
            <a:off x="838200" y="365125"/>
            <a:ext cx="10515600" cy="1325563"/>
          </a:xfrm>
        </p:spPr>
        <p:txBody>
          <a:bodyPr/>
          <a:lstStyle/>
          <a:p>
            <a:r>
              <a:rPr lang="en-US" b="1" dirty="0">
                <a:solidFill>
                  <a:srgbClr val="163E64"/>
                </a:solidFill>
                <a:latin typeface="Calibri" panose="020F0502020204030204" pitchFamily="34" charset="0"/>
              </a:rPr>
              <a:t>Memory Exercise (A)</a:t>
            </a:r>
          </a:p>
        </p:txBody>
      </p:sp>
      <p:sp>
        <p:nvSpPr>
          <p:cNvPr id="3" name="Content Placeholder 2">
            <a:extLst>
              <a:ext uri="{FF2B5EF4-FFF2-40B4-BE49-F238E27FC236}">
                <a16:creationId xmlns:a16="http://schemas.microsoft.com/office/drawing/2014/main" id="{9861A73E-F1F4-FDAC-93A4-BEEE785318E3}"/>
              </a:ext>
            </a:extLst>
          </p:cNvPr>
          <p:cNvSpPr>
            <a:spLocks noGrp="1"/>
          </p:cNvSpPr>
          <p:nvPr>
            <p:ph idx="1"/>
          </p:nvPr>
        </p:nvSpPr>
        <p:spPr/>
        <p:txBody>
          <a:bodyPr>
            <a:noAutofit/>
          </a:bodyPr>
          <a:lstStyle/>
          <a:p>
            <a:pPr marL="0" indent="0">
              <a:buNone/>
            </a:pPr>
            <a:r>
              <a:rPr lang="en-US" sz="1800" b="1" dirty="0"/>
              <a:t>Step 3 — Identify and list any suspicious processes</a:t>
            </a:r>
          </a:p>
          <a:p>
            <a:pPr marL="0" indent="0">
              <a:buNone/>
            </a:pPr>
            <a:r>
              <a:rPr lang="en-US" sz="1800" dirty="0"/>
              <a:t>Check if any processes are suspicious (e.g. notepad.exe running from command line, processes that have unusual names or unknown names)</a:t>
            </a:r>
          </a:p>
          <a:p>
            <a:endParaRPr lang="en-US" sz="1800" dirty="0"/>
          </a:p>
          <a:p>
            <a:pPr marL="0" indent="0">
              <a:buNone/>
            </a:pPr>
            <a:r>
              <a:rPr lang="en-US" sz="1800" b="1" dirty="0"/>
              <a:t>Questions</a:t>
            </a:r>
          </a:p>
          <a:p>
            <a:r>
              <a:rPr lang="en-US" sz="1800" dirty="0"/>
              <a:t>What is the PID/s of the suspicious process?</a:t>
            </a:r>
          </a:p>
          <a:p>
            <a:r>
              <a:rPr lang="en-US" sz="1800" dirty="0"/>
              <a:t>What is the first process started after winlogon.exe?</a:t>
            </a:r>
          </a:p>
          <a:p>
            <a:r>
              <a:rPr lang="en-US" sz="1800" dirty="0"/>
              <a:t>Is there any process running from </a:t>
            </a:r>
            <a:r>
              <a:rPr lang="en-US" sz="1800" b="1" dirty="0"/>
              <a:t>an</a:t>
            </a:r>
            <a:r>
              <a:rPr lang="en-US" sz="1800" dirty="0"/>
              <a:t> </a:t>
            </a:r>
            <a:r>
              <a:rPr lang="en-US" sz="1800" b="1" dirty="0"/>
              <a:t>unusual parent process</a:t>
            </a:r>
            <a:r>
              <a:rPr lang="en-US" sz="1800" dirty="0"/>
              <a:t>? Why is this unusual?</a:t>
            </a:r>
          </a:p>
          <a:p>
            <a:endParaRPr lang="en-US" sz="1800" dirty="0"/>
          </a:p>
          <a:p>
            <a:endParaRPr lang="en-US" sz="1800" dirty="0"/>
          </a:p>
          <a:p>
            <a:pPr marL="0" indent="0">
              <a:buNone/>
            </a:pPr>
            <a:r>
              <a:rPr lang="en-US" sz="1800" dirty="0"/>
              <a:t>That lsass.exe process looks suspicious… Read up on it and see why!</a:t>
            </a:r>
          </a:p>
          <a:p>
            <a:pPr marL="0" indent="0" algn="just">
              <a:buNone/>
            </a:pPr>
            <a:endParaRPr lang="en-US" sz="1800" dirty="0"/>
          </a:p>
        </p:txBody>
      </p:sp>
      <p:sp>
        <p:nvSpPr>
          <p:cNvPr id="7" name="TextBox 6">
            <a:extLst>
              <a:ext uri="{FF2B5EF4-FFF2-40B4-BE49-F238E27FC236}">
                <a16:creationId xmlns:a16="http://schemas.microsoft.com/office/drawing/2014/main" id="{622F6D41-3508-4DD9-8B4A-603F073AEB87}"/>
              </a:ext>
            </a:extLst>
          </p:cNvPr>
          <p:cNvSpPr txBox="1"/>
          <p:nvPr/>
        </p:nvSpPr>
        <p:spPr>
          <a:xfrm>
            <a:off x="838200" y="5617944"/>
            <a:ext cx="10123030" cy="646331"/>
          </a:xfrm>
          <a:prstGeom prst="rect">
            <a:avLst/>
          </a:prstGeom>
          <a:solidFill>
            <a:schemeClr val="bg1">
              <a:lumMod val="85000"/>
            </a:schemeClr>
          </a:solidFill>
          <a:ln>
            <a:solidFill>
              <a:schemeClr val="tx1"/>
            </a:solidFill>
          </a:ln>
        </p:spPr>
        <p:txBody>
          <a:bodyPr wrap="square" rtlCol="0" anchor="ctr">
            <a:spAutoFit/>
          </a:bodyPr>
          <a:lstStyle/>
          <a:p>
            <a:pPr algn="ctr"/>
            <a:r>
              <a:rPr lang="en-SG" b="1" dirty="0"/>
              <a:t>Hint!</a:t>
            </a:r>
          </a:p>
          <a:p>
            <a:pPr algn="ctr"/>
            <a:endParaRPr lang="en-SG" b="1" dirty="0"/>
          </a:p>
        </p:txBody>
      </p:sp>
    </p:spTree>
    <p:extLst>
      <p:ext uri="{BB962C8B-B14F-4D97-AF65-F5344CB8AC3E}">
        <p14:creationId xmlns:p14="http://schemas.microsoft.com/office/powerpoint/2010/main" val="2747279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childTnLst>
              </p:cTn>
              <p:nextCondLst>
                <p:cond evt="onClick" delay="0">
                  <p:tgtEl>
                    <p:spTgt spid="7"/>
                  </p:tgtEl>
                </p:cond>
              </p:nextCondLst>
            </p:seq>
          </p:childTnLst>
        </p:cTn>
      </p:par>
    </p:tnLst>
    <p:bldLst>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AB388-E04E-D4B3-F8C0-FFD7746E74F6}"/>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03C5BA69-2A5A-58C3-245E-644B3E086F4D}"/>
              </a:ext>
            </a:extLst>
          </p:cNvPr>
          <p:cNvSpPr>
            <a:spLocks noGrp="1"/>
          </p:cNvSpPr>
          <p:nvPr>
            <p:ph type="title"/>
          </p:nvPr>
        </p:nvSpPr>
        <p:spPr>
          <a:xfrm>
            <a:off x="838200" y="365125"/>
            <a:ext cx="10515600" cy="1325563"/>
          </a:xfrm>
        </p:spPr>
        <p:txBody>
          <a:bodyPr/>
          <a:lstStyle/>
          <a:p>
            <a:r>
              <a:rPr lang="en-US" b="1" dirty="0">
                <a:solidFill>
                  <a:srgbClr val="163E64"/>
                </a:solidFill>
                <a:latin typeface="Calibri" panose="020F0502020204030204" pitchFamily="34" charset="0"/>
              </a:rPr>
              <a:t>Memory Exercise (A)</a:t>
            </a:r>
          </a:p>
        </p:txBody>
      </p:sp>
      <p:sp>
        <p:nvSpPr>
          <p:cNvPr id="3" name="Content Placeholder 2">
            <a:extLst>
              <a:ext uri="{FF2B5EF4-FFF2-40B4-BE49-F238E27FC236}">
                <a16:creationId xmlns:a16="http://schemas.microsoft.com/office/drawing/2014/main" id="{513F5813-5743-7A16-D274-7583D26AC346}"/>
              </a:ext>
            </a:extLst>
          </p:cNvPr>
          <p:cNvSpPr>
            <a:spLocks noGrp="1"/>
          </p:cNvSpPr>
          <p:nvPr>
            <p:ph idx="1"/>
          </p:nvPr>
        </p:nvSpPr>
        <p:spPr/>
        <p:txBody>
          <a:bodyPr>
            <a:noAutofit/>
          </a:bodyPr>
          <a:lstStyle/>
          <a:p>
            <a:pPr marL="0" indent="0">
              <a:buNone/>
            </a:pPr>
            <a:r>
              <a:rPr lang="en-US" sz="1800" b="1" dirty="0"/>
              <a:t>Step 4 — Check for Code Injection</a:t>
            </a:r>
          </a:p>
          <a:p>
            <a:pPr marL="0" indent="0">
              <a:buNone/>
            </a:pPr>
            <a:r>
              <a:rPr lang="en-US" sz="1800" dirty="0"/>
              <a:t>Code injection is a technique where malware </a:t>
            </a:r>
            <a:r>
              <a:rPr lang="en-US" sz="1800" b="1" dirty="0"/>
              <a:t>hides inside a normal program</a:t>
            </a:r>
            <a:r>
              <a:rPr lang="en-US" sz="1800" dirty="0"/>
              <a:t> by inserting its own malicious code into that program’s memory. If a trusted process is:</a:t>
            </a:r>
          </a:p>
          <a:p>
            <a:pPr lvl="1"/>
            <a:r>
              <a:rPr lang="en-US" sz="1800" dirty="0"/>
              <a:t>Running unknown code</a:t>
            </a:r>
          </a:p>
          <a:p>
            <a:pPr lvl="1"/>
            <a:r>
              <a:rPr lang="en-US" sz="1800" dirty="0"/>
              <a:t>Communicating with suspicious IPs</a:t>
            </a:r>
          </a:p>
          <a:p>
            <a:pPr marL="0" indent="0">
              <a:buNone/>
            </a:pPr>
            <a:r>
              <a:rPr lang="en-US" sz="1800" dirty="0"/>
              <a:t>… it may indicate code injection!</a:t>
            </a:r>
          </a:p>
          <a:p>
            <a:pPr marL="0" indent="0">
              <a:buNone/>
            </a:pPr>
            <a:endParaRPr lang="en-US" sz="1800" dirty="0"/>
          </a:p>
          <a:p>
            <a:pPr marL="0" indent="0">
              <a:buNone/>
            </a:pPr>
            <a:r>
              <a:rPr lang="en-US" sz="1800" b="1" dirty="0"/>
              <a:t>Questions</a:t>
            </a:r>
          </a:p>
          <a:p>
            <a:r>
              <a:rPr lang="en-US" sz="1800" dirty="0"/>
              <a:t>Which process shows signs of injected code?</a:t>
            </a:r>
          </a:p>
          <a:p>
            <a:r>
              <a:rPr lang="en-US" sz="1800" dirty="0"/>
              <a:t>What is the PID of that process?</a:t>
            </a:r>
          </a:p>
          <a:p>
            <a:pPr marL="0" indent="0" algn="just">
              <a:buNone/>
            </a:pPr>
            <a:endParaRPr lang="en-US" sz="1800" dirty="0"/>
          </a:p>
          <a:p>
            <a:pPr marL="0" indent="0" algn="just">
              <a:buNone/>
            </a:pPr>
            <a:r>
              <a:rPr lang="en-US" sz="1800" dirty="0"/>
              <a:t>Look for suspicious memory regions marked as PAGE_EXECUTE_READWRITE</a:t>
            </a:r>
          </a:p>
        </p:txBody>
      </p:sp>
      <p:sp>
        <p:nvSpPr>
          <p:cNvPr id="11" name="TextBox 10">
            <a:extLst>
              <a:ext uri="{FF2B5EF4-FFF2-40B4-BE49-F238E27FC236}">
                <a16:creationId xmlns:a16="http://schemas.microsoft.com/office/drawing/2014/main" id="{7D8E6AE4-2467-3E28-B59D-7168AEA15E98}"/>
              </a:ext>
            </a:extLst>
          </p:cNvPr>
          <p:cNvSpPr txBox="1"/>
          <p:nvPr/>
        </p:nvSpPr>
        <p:spPr>
          <a:xfrm>
            <a:off x="838200" y="5849034"/>
            <a:ext cx="10123030" cy="646331"/>
          </a:xfrm>
          <a:prstGeom prst="rect">
            <a:avLst/>
          </a:prstGeom>
          <a:solidFill>
            <a:schemeClr val="bg1">
              <a:lumMod val="85000"/>
            </a:schemeClr>
          </a:solidFill>
          <a:ln>
            <a:solidFill>
              <a:schemeClr val="tx1"/>
            </a:solidFill>
          </a:ln>
        </p:spPr>
        <p:txBody>
          <a:bodyPr wrap="square" rtlCol="0" anchor="ctr">
            <a:spAutoFit/>
          </a:bodyPr>
          <a:lstStyle/>
          <a:p>
            <a:pPr algn="ctr"/>
            <a:r>
              <a:rPr lang="en-SG" b="1" dirty="0"/>
              <a:t>Hint!</a:t>
            </a:r>
          </a:p>
          <a:p>
            <a:pPr algn="ctr"/>
            <a:endParaRPr lang="en-SG" b="1" dirty="0"/>
          </a:p>
        </p:txBody>
      </p:sp>
    </p:spTree>
    <p:extLst>
      <p:ext uri="{BB962C8B-B14F-4D97-AF65-F5344CB8AC3E}">
        <p14:creationId xmlns:p14="http://schemas.microsoft.com/office/powerpoint/2010/main" val="1021686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1"/>
                                        </p:tgtEl>
                                      </p:cBhvr>
                                    </p:animEffect>
                                    <p:set>
                                      <p:cBhvr>
                                        <p:cTn id="7"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childTnLst>
        </p:cTn>
      </p:par>
    </p:tnLst>
    <p:bldLst>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992C6-3B94-0AD2-D1C0-7A5E5A3086B0}"/>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22034B7E-DF7D-688C-5A90-35D241EA97E7}"/>
              </a:ext>
            </a:extLst>
          </p:cNvPr>
          <p:cNvSpPr>
            <a:spLocks noGrp="1"/>
          </p:cNvSpPr>
          <p:nvPr>
            <p:ph type="title"/>
          </p:nvPr>
        </p:nvSpPr>
        <p:spPr>
          <a:xfrm>
            <a:off x="838200" y="365125"/>
            <a:ext cx="10515600" cy="1325563"/>
          </a:xfrm>
        </p:spPr>
        <p:txBody>
          <a:bodyPr/>
          <a:lstStyle/>
          <a:p>
            <a:r>
              <a:rPr lang="en-US" b="1" dirty="0">
                <a:solidFill>
                  <a:srgbClr val="163E64"/>
                </a:solidFill>
                <a:latin typeface="Calibri" panose="020F0502020204030204" pitchFamily="34" charset="0"/>
              </a:rPr>
              <a:t>Memory Exercise (A)</a:t>
            </a:r>
          </a:p>
        </p:txBody>
      </p:sp>
      <p:sp>
        <p:nvSpPr>
          <p:cNvPr id="3" name="Content Placeholder 2">
            <a:extLst>
              <a:ext uri="{FF2B5EF4-FFF2-40B4-BE49-F238E27FC236}">
                <a16:creationId xmlns:a16="http://schemas.microsoft.com/office/drawing/2014/main" id="{BA96801B-CC79-BD0B-FDCC-D854FA8F5CDC}"/>
              </a:ext>
            </a:extLst>
          </p:cNvPr>
          <p:cNvSpPr>
            <a:spLocks noGrp="1"/>
          </p:cNvSpPr>
          <p:nvPr>
            <p:ph idx="1"/>
          </p:nvPr>
        </p:nvSpPr>
        <p:spPr/>
        <p:txBody>
          <a:bodyPr>
            <a:noAutofit/>
          </a:bodyPr>
          <a:lstStyle/>
          <a:p>
            <a:pPr marL="0" indent="0">
              <a:buNone/>
            </a:pPr>
            <a:r>
              <a:rPr lang="en-US" sz="1800" b="1" dirty="0"/>
              <a:t>Step 4.1 — Dump and verify the Suspicious Process</a:t>
            </a:r>
          </a:p>
          <a:p>
            <a:pPr marL="0" indent="0">
              <a:buNone/>
            </a:pPr>
            <a:r>
              <a:rPr lang="en-US" sz="1800" dirty="0"/>
              <a:t>Once you have identified a suspicious process (from </a:t>
            </a:r>
            <a:r>
              <a:rPr lang="en-US" sz="1800" b="1" dirty="0"/>
              <a:t>Step 3 / 4</a:t>
            </a:r>
            <a:r>
              <a:rPr lang="en-US" sz="1800" dirty="0"/>
              <a:t>), you can extract it from memory and check if it is malicious. We will do the following steps:</a:t>
            </a:r>
          </a:p>
          <a:p>
            <a:r>
              <a:rPr lang="en-US" sz="1800" dirty="0"/>
              <a:t>Extract (dump) the process from memory</a:t>
            </a:r>
          </a:p>
          <a:p>
            <a:r>
              <a:rPr lang="en-US" sz="1800" dirty="0"/>
              <a:t>Generate its file hash</a:t>
            </a:r>
          </a:p>
          <a:p>
            <a:r>
              <a:rPr lang="en-US" sz="1800" dirty="0"/>
              <a:t>Check the hash on </a:t>
            </a:r>
            <a:r>
              <a:rPr lang="en-US" sz="1800" dirty="0" err="1"/>
              <a:t>VirusTotal</a:t>
            </a:r>
            <a:r>
              <a:rPr lang="en-US" sz="1800" dirty="0"/>
              <a:t> to see if it is known malware</a:t>
            </a:r>
          </a:p>
          <a:p>
            <a:pPr marL="0" indent="0">
              <a:buNone/>
            </a:pPr>
            <a:endParaRPr lang="en-US" sz="1800" dirty="0"/>
          </a:p>
          <a:p>
            <a:pPr marL="0" indent="0">
              <a:buNone/>
            </a:pPr>
            <a:r>
              <a:rPr lang="en-US" sz="1800" b="1" dirty="0"/>
              <a:t>Questions</a:t>
            </a:r>
            <a:endParaRPr lang="en-US" sz="1800" dirty="0"/>
          </a:p>
          <a:p>
            <a:r>
              <a:rPr lang="en-US" sz="1800" dirty="0"/>
              <a:t>What is the filename of the dumped process?</a:t>
            </a:r>
          </a:p>
          <a:p>
            <a:r>
              <a:rPr lang="en-US" sz="1800" dirty="0"/>
              <a:t>What is the MD5 hash of the file?</a:t>
            </a:r>
          </a:p>
          <a:p>
            <a:r>
              <a:rPr lang="en-US" sz="1800" dirty="0"/>
              <a:t>How many antivirus engines flagged it as malicious on </a:t>
            </a:r>
            <a:r>
              <a:rPr lang="en-US" sz="1800" dirty="0" err="1"/>
              <a:t>VirusTotal</a:t>
            </a:r>
            <a:r>
              <a:rPr lang="en-US" sz="1800" dirty="0"/>
              <a:t>?</a:t>
            </a:r>
          </a:p>
        </p:txBody>
      </p:sp>
    </p:spTree>
    <p:extLst>
      <p:ext uri="{BB962C8B-B14F-4D97-AF65-F5344CB8AC3E}">
        <p14:creationId xmlns:p14="http://schemas.microsoft.com/office/powerpoint/2010/main" val="696429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D5508-2239-5181-A01F-741D812E9E83}"/>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712AB9F0-CD3B-581C-8520-BA271C613AA4}"/>
              </a:ext>
            </a:extLst>
          </p:cNvPr>
          <p:cNvSpPr>
            <a:spLocks noGrp="1"/>
          </p:cNvSpPr>
          <p:nvPr>
            <p:ph type="title"/>
          </p:nvPr>
        </p:nvSpPr>
        <p:spPr>
          <a:xfrm>
            <a:off x="838200" y="365125"/>
            <a:ext cx="10515600" cy="1325563"/>
          </a:xfrm>
        </p:spPr>
        <p:txBody>
          <a:bodyPr/>
          <a:lstStyle/>
          <a:p>
            <a:r>
              <a:rPr lang="en-US" b="1" dirty="0">
                <a:solidFill>
                  <a:srgbClr val="163E64"/>
                </a:solidFill>
                <a:latin typeface="Calibri" panose="020F0502020204030204" pitchFamily="34" charset="0"/>
              </a:rPr>
              <a:t>Memory Exercise (A)</a:t>
            </a:r>
          </a:p>
        </p:txBody>
      </p:sp>
      <p:sp>
        <p:nvSpPr>
          <p:cNvPr id="3" name="Content Placeholder 2">
            <a:extLst>
              <a:ext uri="{FF2B5EF4-FFF2-40B4-BE49-F238E27FC236}">
                <a16:creationId xmlns:a16="http://schemas.microsoft.com/office/drawing/2014/main" id="{E1206F11-4D3B-F735-16E6-B9BF4BFA57BC}"/>
              </a:ext>
            </a:extLst>
          </p:cNvPr>
          <p:cNvSpPr>
            <a:spLocks noGrp="1"/>
          </p:cNvSpPr>
          <p:nvPr>
            <p:ph idx="1"/>
          </p:nvPr>
        </p:nvSpPr>
        <p:spPr>
          <a:xfrm>
            <a:off x="999122" y="2102763"/>
            <a:ext cx="10058400" cy="2652473"/>
          </a:xfrm>
        </p:spPr>
        <p:txBody>
          <a:bodyPr>
            <a:noAutofit/>
          </a:bodyPr>
          <a:lstStyle/>
          <a:p>
            <a:pPr marL="0" indent="0">
              <a:buNone/>
            </a:pPr>
            <a:r>
              <a:rPr lang="en-US" sz="1800" b="1" dirty="0"/>
              <a:t>Step 5 — Check for Persistence</a:t>
            </a:r>
          </a:p>
          <a:p>
            <a:pPr marL="0" indent="0">
              <a:buNone/>
            </a:pPr>
            <a:r>
              <a:rPr lang="en-US" sz="1800" dirty="0"/>
              <a:t>Persistence is a technique used by malware to </a:t>
            </a:r>
            <a:r>
              <a:rPr lang="en-US" sz="1800" b="1" dirty="0"/>
              <a:t>stay on a system even after it is restarted</a:t>
            </a:r>
            <a:r>
              <a:rPr lang="en-US" sz="1800" dirty="0"/>
              <a:t>. Normally, when you reboot a computer, most programs stop running. However, malware can create ways to </a:t>
            </a:r>
            <a:r>
              <a:rPr lang="en-US" sz="1800" b="1" dirty="0"/>
              <a:t>automatically start again</a:t>
            </a:r>
            <a:r>
              <a:rPr lang="en-US" sz="1800" dirty="0"/>
              <a:t> every time the system boots.</a:t>
            </a:r>
          </a:p>
          <a:p>
            <a:pPr marL="0" indent="0">
              <a:buNone/>
            </a:pPr>
            <a:r>
              <a:rPr lang="en-US" sz="1800" dirty="0"/>
              <a:t>Common Persistence methods include:</a:t>
            </a:r>
          </a:p>
          <a:p>
            <a:pPr lvl="1"/>
            <a:r>
              <a:rPr lang="en-US" sz="1800" dirty="0"/>
              <a:t>Startup programs (run automatically when Windows starts)</a:t>
            </a:r>
          </a:p>
          <a:p>
            <a:pPr lvl="1"/>
            <a:r>
              <a:rPr lang="en-US" sz="1800" dirty="0"/>
              <a:t>Registry keys (e.g., Run / </a:t>
            </a:r>
            <a:r>
              <a:rPr lang="en-US" sz="1800" dirty="0" err="1"/>
              <a:t>RunOnce</a:t>
            </a:r>
            <a:r>
              <a:rPr lang="en-US" sz="1800" dirty="0"/>
              <a:t>)</a:t>
            </a:r>
          </a:p>
          <a:p>
            <a:pPr lvl="1"/>
            <a:r>
              <a:rPr lang="en-US" sz="1800" dirty="0"/>
              <a:t>Scheduled tasks or services</a:t>
            </a:r>
            <a:endParaRPr lang="en-US" sz="1800" b="1" dirty="0"/>
          </a:p>
          <a:p>
            <a:pPr marL="0" indent="0">
              <a:buNone/>
            </a:pPr>
            <a:r>
              <a:rPr lang="en-US" sz="1800" b="1" dirty="0"/>
              <a:t>Questions</a:t>
            </a:r>
          </a:p>
          <a:p>
            <a:r>
              <a:rPr lang="en-US" sz="1800" dirty="0"/>
              <a:t>Is there any suspicious program configured to </a:t>
            </a:r>
            <a:r>
              <a:rPr lang="en-US" sz="1800" b="1" dirty="0"/>
              <a:t>start automatically</a:t>
            </a:r>
            <a:r>
              <a:rPr lang="en-US" sz="1800" dirty="0"/>
              <a:t>? Look online and find out what are Stuxnet used for its persistence mechanism!</a:t>
            </a:r>
          </a:p>
          <a:p>
            <a:pPr marL="0" indent="0">
              <a:buNone/>
            </a:pPr>
            <a:r>
              <a:rPr lang="en-US" sz="1800" dirty="0"/>
              <a:t>This is tricky! The persistence mechanism might not be obvious, as research states that Stuxnet                   uses malicious drivers to achieve persistence -&gt; use the </a:t>
            </a:r>
            <a:r>
              <a:rPr lang="en-US" sz="1800" b="1" dirty="0"/>
              <a:t>callbacks </a:t>
            </a:r>
            <a:r>
              <a:rPr lang="en-US" sz="1800" dirty="0"/>
              <a:t>plugin and look through the drivers!</a:t>
            </a:r>
          </a:p>
          <a:p>
            <a:endParaRPr lang="en-US" sz="1800" dirty="0"/>
          </a:p>
          <a:p>
            <a:endParaRPr lang="en-US" sz="1800" dirty="0"/>
          </a:p>
        </p:txBody>
      </p:sp>
      <p:sp>
        <p:nvSpPr>
          <p:cNvPr id="6" name="TextBox 5">
            <a:extLst>
              <a:ext uri="{FF2B5EF4-FFF2-40B4-BE49-F238E27FC236}">
                <a16:creationId xmlns:a16="http://schemas.microsoft.com/office/drawing/2014/main" id="{E3690105-25E3-D032-2773-85F0D8945286}"/>
              </a:ext>
            </a:extLst>
          </p:cNvPr>
          <p:cNvSpPr txBox="1"/>
          <p:nvPr/>
        </p:nvSpPr>
        <p:spPr>
          <a:xfrm>
            <a:off x="838200" y="5872389"/>
            <a:ext cx="10123030" cy="646331"/>
          </a:xfrm>
          <a:prstGeom prst="rect">
            <a:avLst/>
          </a:prstGeom>
          <a:solidFill>
            <a:schemeClr val="bg1">
              <a:lumMod val="85000"/>
            </a:schemeClr>
          </a:solidFill>
          <a:ln>
            <a:solidFill>
              <a:schemeClr val="tx1"/>
            </a:solidFill>
          </a:ln>
        </p:spPr>
        <p:txBody>
          <a:bodyPr wrap="square" rtlCol="0" anchor="ctr">
            <a:spAutoFit/>
          </a:bodyPr>
          <a:lstStyle/>
          <a:p>
            <a:pPr algn="ctr"/>
            <a:r>
              <a:rPr lang="en-SG" b="1" dirty="0"/>
              <a:t>Hint!</a:t>
            </a:r>
          </a:p>
          <a:p>
            <a:pPr algn="ctr"/>
            <a:endParaRPr lang="en-SG" b="1" dirty="0"/>
          </a:p>
        </p:txBody>
      </p:sp>
    </p:spTree>
    <p:extLst>
      <p:ext uri="{BB962C8B-B14F-4D97-AF65-F5344CB8AC3E}">
        <p14:creationId xmlns:p14="http://schemas.microsoft.com/office/powerpoint/2010/main" val="538933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childTnLst>
              </p:cTn>
              <p:nextCondLst>
                <p:cond evt="onClick" delay="0">
                  <p:tgtEl>
                    <p:spTgt spid="6"/>
                  </p:tgtEl>
                </p:cond>
              </p:nextCondLst>
            </p:seq>
          </p:childTnLst>
        </p:cTn>
      </p:par>
    </p:tnLst>
    <p:bldLst>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850BD-9EED-D03D-A33B-0D82C5D372A5}"/>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F8B91200-CDFE-0C69-AF84-51BFB2642741}"/>
              </a:ext>
            </a:extLst>
          </p:cNvPr>
          <p:cNvSpPr>
            <a:spLocks noGrp="1"/>
          </p:cNvSpPr>
          <p:nvPr>
            <p:ph type="title"/>
          </p:nvPr>
        </p:nvSpPr>
        <p:spPr>
          <a:xfrm>
            <a:off x="838200" y="365125"/>
            <a:ext cx="10515600" cy="1325563"/>
          </a:xfrm>
        </p:spPr>
        <p:txBody>
          <a:bodyPr/>
          <a:lstStyle/>
          <a:p>
            <a:r>
              <a:rPr lang="en-US" b="1" dirty="0">
                <a:solidFill>
                  <a:srgbClr val="163E64"/>
                </a:solidFill>
                <a:latin typeface="Calibri" panose="020F0502020204030204" pitchFamily="34" charset="0"/>
              </a:rPr>
              <a:t>Memory Exercise (A)</a:t>
            </a:r>
          </a:p>
        </p:txBody>
      </p:sp>
      <p:sp>
        <p:nvSpPr>
          <p:cNvPr id="3" name="Content Placeholder 2">
            <a:extLst>
              <a:ext uri="{FF2B5EF4-FFF2-40B4-BE49-F238E27FC236}">
                <a16:creationId xmlns:a16="http://schemas.microsoft.com/office/drawing/2014/main" id="{DD05A8CF-6468-8D8D-FF4F-D2E198A9C6D0}"/>
              </a:ext>
            </a:extLst>
          </p:cNvPr>
          <p:cNvSpPr>
            <a:spLocks noGrp="1"/>
          </p:cNvSpPr>
          <p:nvPr>
            <p:ph idx="1"/>
          </p:nvPr>
        </p:nvSpPr>
        <p:spPr/>
        <p:txBody>
          <a:bodyPr>
            <a:noAutofit/>
          </a:bodyPr>
          <a:lstStyle/>
          <a:p>
            <a:pPr marL="0" indent="0">
              <a:buNone/>
            </a:pPr>
            <a:r>
              <a:rPr lang="en-US" sz="1800" b="1" dirty="0"/>
              <a:t>Step 5.1 — Dump and verify the Suspicious Drivers</a:t>
            </a:r>
          </a:p>
          <a:p>
            <a:pPr marL="0" indent="0">
              <a:buNone/>
            </a:pPr>
            <a:r>
              <a:rPr lang="en-US" sz="1800" dirty="0"/>
              <a:t>Likewise, for the suspicious drivers, you can extract them from memory and verify that they are malicious. We will do the following steps:</a:t>
            </a:r>
          </a:p>
          <a:p>
            <a:r>
              <a:rPr lang="en-US" sz="1800" dirty="0"/>
              <a:t>Extract (dump) the drivers (You will need to find the base address of the drivers, use the </a:t>
            </a:r>
            <a:r>
              <a:rPr lang="en-US" sz="1800" b="1" dirty="0"/>
              <a:t>modules</a:t>
            </a:r>
            <a:r>
              <a:rPr lang="en-US" sz="1800" dirty="0"/>
              <a:t> plugin!)</a:t>
            </a:r>
          </a:p>
          <a:p>
            <a:r>
              <a:rPr lang="en-US" sz="1800" dirty="0"/>
              <a:t>Generate their file hash</a:t>
            </a:r>
          </a:p>
          <a:p>
            <a:r>
              <a:rPr lang="en-US" sz="1800" dirty="0"/>
              <a:t>Check the hash on </a:t>
            </a:r>
            <a:r>
              <a:rPr lang="en-US" sz="1800" dirty="0" err="1"/>
              <a:t>VirusTotal</a:t>
            </a:r>
            <a:r>
              <a:rPr lang="en-US" sz="1800" dirty="0"/>
              <a:t> to see if it is known malware</a:t>
            </a:r>
          </a:p>
          <a:p>
            <a:pPr marL="0" indent="0">
              <a:buNone/>
            </a:pPr>
            <a:endParaRPr lang="en-US" sz="1800" dirty="0"/>
          </a:p>
          <a:p>
            <a:pPr marL="0" indent="0">
              <a:buNone/>
            </a:pPr>
            <a:r>
              <a:rPr lang="en-US" sz="1800" b="1" dirty="0"/>
              <a:t>Questions</a:t>
            </a:r>
            <a:endParaRPr lang="en-US" sz="1800" dirty="0"/>
          </a:p>
          <a:p>
            <a:r>
              <a:rPr lang="en-US" sz="1800" dirty="0"/>
              <a:t>What is the base address of the dumped drivers?</a:t>
            </a:r>
          </a:p>
          <a:p>
            <a:r>
              <a:rPr lang="en-US" sz="1800" dirty="0"/>
              <a:t>What is the MD5 hash of the drivers?</a:t>
            </a:r>
          </a:p>
          <a:p>
            <a:r>
              <a:rPr lang="en-US" sz="1800" dirty="0"/>
              <a:t>How many antivirus engines flagged it as malicious on </a:t>
            </a:r>
            <a:r>
              <a:rPr lang="en-US" sz="1800" dirty="0" err="1"/>
              <a:t>VirusTotal</a:t>
            </a:r>
            <a:r>
              <a:rPr lang="en-US" sz="1800" dirty="0"/>
              <a:t>?</a:t>
            </a:r>
          </a:p>
        </p:txBody>
      </p:sp>
    </p:spTree>
    <p:extLst>
      <p:ext uri="{BB962C8B-B14F-4D97-AF65-F5344CB8AC3E}">
        <p14:creationId xmlns:p14="http://schemas.microsoft.com/office/powerpoint/2010/main" val="4061485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864EE-938E-88BB-8A32-811B25415901}"/>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8E8E2D57-7006-8D01-0C3E-C71F3791BD99}"/>
              </a:ext>
            </a:extLst>
          </p:cNvPr>
          <p:cNvSpPr>
            <a:spLocks noGrp="1"/>
          </p:cNvSpPr>
          <p:nvPr>
            <p:ph type="title"/>
          </p:nvPr>
        </p:nvSpPr>
        <p:spPr>
          <a:xfrm>
            <a:off x="838200" y="365125"/>
            <a:ext cx="10515600" cy="1325563"/>
          </a:xfrm>
        </p:spPr>
        <p:txBody>
          <a:bodyPr/>
          <a:lstStyle/>
          <a:p>
            <a:r>
              <a:rPr lang="en-US" b="1" dirty="0">
                <a:solidFill>
                  <a:srgbClr val="163E64"/>
                </a:solidFill>
                <a:latin typeface="Calibri" panose="020F0502020204030204" pitchFamily="34" charset="0"/>
              </a:rPr>
              <a:t>Memory Exercise (A)</a:t>
            </a:r>
          </a:p>
        </p:txBody>
      </p:sp>
      <p:sp>
        <p:nvSpPr>
          <p:cNvPr id="3" name="Content Placeholder 2">
            <a:extLst>
              <a:ext uri="{FF2B5EF4-FFF2-40B4-BE49-F238E27FC236}">
                <a16:creationId xmlns:a16="http://schemas.microsoft.com/office/drawing/2014/main" id="{EA37F8BC-37A0-2D6D-19D7-801F87E99B83}"/>
              </a:ext>
            </a:extLst>
          </p:cNvPr>
          <p:cNvSpPr>
            <a:spLocks noGrp="1"/>
          </p:cNvSpPr>
          <p:nvPr>
            <p:ph idx="1"/>
          </p:nvPr>
        </p:nvSpPr>
        <p:spPr/>
        <p:txBody>
          <a:bodyPr>
            <a:noAutofit/>
          </a:bodyPr>
          <a:lstStyle/>
          <a:p>
            <a:pPr marL="0" indent="0">
              <a:buNone/>
            </a:pPr>
            <a:r>
              <a:rPr lang="en-US" sz="1800" b="1" dirty="0"/>
              <a:t>Step 6 — Give a brief summary of the malware found and its capabilities</a:t>
            </a:r>
          </a:p>
          <a:p>
            <a:pPr marL="0" indent="0">
              <a:buNone/>
            </a:pPr>
            <a:r>
              <a:rPr lang="en-US" sz="1800" dirty="0"/>
              <a:t>In real investigations, we don’t just find evidence — they must </a:t>
            </a:r>
            <a:r>
              <a:rPr lang="en-US" sz="1800" b="1" dirty="0"/>
              <a:t>explain what happened clearly</a:t>
            </a:r>
            <a:r>
              <a:rPr lang="en-US" sz="1800" dirty="0"/>
              <a:t>.</a:t>
            </a:r>
          </a:p>
          <a:p>
            <a:pPr marL="0" indent="0">
              <a:buNone/>
            </a:pPr>
            <a:r>
              <a:rPr lang="en-US" sz="1800" dirty="0"/>
              <a:t>Consolidate what you have discovered so far and prepare a</a:t>
            </a:r>
            <a:r>
              <a:rPr lang="en-US" sz="1800" b="1" dirty="0"/>
              <a:t> PowerPoint presentation</a:t>
            </a:r>
            <a:r>
              <a:rPr lang="en-US" sz="1800" dirty="0"/>
              <a:t> to present your findings. Make sure to include screenshots and the commands ran to get your results.</a:t>
            </a:r>
          </a:p>
          <a:p>
            <a:pPr marL="0" indent="0">
              <a:buNone/>
            </a:pPr>
            <a:r>
              <a:rPr lang="en-US" sz="1800" dirty="0"/>
              <a:t>Additionally, do some online research on the malware and provide a short summary of its capabilities as well as what you have learnt about this malware. (There are many sources of information online, read through a few and pick one you find interesting!)</a:t>
            </a:r>
          </a:p>
        </p:txBody>
      </p:sp>
    </p:spTree>
    <p:extLst>
      <p:ext uri="{BB962C8B-B14F-4D97-AF65-F5344CB8AC3E}">
        <p14:creationId xmlns:p14="http://schemas.microsoft.com/office/powerpoint/2010/main" val="1823363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19120-3476-D92A-1BB8-D60E26B24C25}"/>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26EFFBC8-65E8-E331-95A7-A423D33E0FCA}"/>
              </a:ext>
            </a:extLst>
          </p:cNvPr>
          <p:cNvSpPr>
            <a:spLocks noGrp="1"/>
          </p:cNvSpPr>
          <p:nvPr>
            <p:ph type="title"/>
          </p:nvPr>
        </p:nvSpPr>
        <p:spPr>
          <a:xfrm>
            <a:off x="838200" y="365125"/>
            <a:ext cx="10515600" cy="1325563"/>
          </a:xfrm>
        </p:spPr>
        <p:txBody>
          <a:bodyPr/>
          <a:lstStyle/>
          <a:p>
            <a:r>
              <a:rPr lang="en-US" b="1" dirty="0">
                <a:solidFill>
                  <a:srgbClr val="163E64"/>
                </a:solidFill>
                <a:latin typeface="Calibri" panose="020F0502020204030204" pitchFamily="34" charset="0"/>
              </a:rPr>
              <a:t>Memory Exercise (B)</a:t>
            </a:r>
          </a:p>
        </p:txBody>
      </p:sp>
      <p:sp>
        <p:nvSpPr>
          <p:cNvPr id="3" name="Content Placeholder 2">
            <a:extLst>
              <a:ext uri="{FF2B5EF4-FFF2-40B4-BE49-F238E27FC236}">
                <a16:creationId xmlns:a16="http://schemas.microsoft.com/office/drawing/2014/main" id="{285E0383-C7C6-CB41-C5F9-731B79FB7DE5}"/>
              </a:ext>
            </a:extLst>
          </p:cNvPr>
          <p:cNvSpPr>
            <a:spLocks noGrp="1"/>
          </p:cNvSpPr>
          <p:nvPr>
            <p:ph idx="1"/>
          </p:nvPr>
        </p:nvSpPr>
        <p:spPr/>
        <p:txBody>
          <a:bodyPr>
            <a:noAutofit/>
          </a:bodyPr>
          <a:lstStyle/>
          <a:p>
            <a:pPr marL="0" indent="0">
              <a:buNone/>
            </a:pPr>
            <a:r>
              <a:rPr lang="en-US" sz="1800" dirty="0"/>
              <a:t>A Windows system was suspected to be infected with malware similar to </a:t>
            </a:r>
            <a:r>
              <a:rPr lang="en-US" sz="1800" b="1" dirty="0"/>
              <a:t>Zeus</a:t>
            </a:r>
            <a:r>
              <a:rPr lang="en-US" sz="1800" dirty="0"/>
              <a:t>. You have been given a RAM memory dump from the infected system. </a:t>
            </a:r>
          </a:p>
          <a:p>
            <a:pPr algn="just"/>
            <a:r>
              <a:rPr lang="en-US" sz="1800" dirty="0"/>
              <a:t>Main Objective:</a:t>
            </a:r>
          </a:p>
          <a:p>
            <a:pPr lvl="1" algn="just"/>
            <a:r>
              <a:rPr lang="en-US" sz="1800" dirty="0"/>
              <a:t>Identify and list any malicious C2 connections </a:t>
            </a:r>
          </a:p>
          <a:p>
            <a:pPr lvl="1" algn="just"/>
            <a:r>
              <a:rPr lang="en-US" sz="1800" dirty="0"/>
              <a:t>Identify suspicious processes</a:t>
            </a:r>
          </a:p>
          <a:p>
            <a:pPr lvl="1" algn="just"/>
            <a:r>
              <a:rPr lang="en-US" sz="1800" dirty="0"/>
              <a:t>Identify any potential persistence mechanisms</a:t>
            </a:r>
          </a:p>
          <a:p>
            <a:pPr lvl="1" algn="just"/>
            <a:r>
              <a:rPr lang="en-US" sz="1800" dirty="0"/>
              <a:t>Give a brief summary of the malware found and its capabilities</a:t>
            </a:r>
          </a:p>
          <a:p>
            <a:pPr algn="just"/>
            <a:r>
              <a:rPr lang="en-US" sz="1800" dirty="0"/>
              <a:t>Evidence:</a:t>
            </a:r>
          </a:p>
          <a:p>
            <a:pPr lvl="1" algn="just"/>
            <a:r>
              <a:rPr lang="en-US" sz="1800" dirty="0" err="1"/>
              <a:t>Zeus.vmem</a:t>
            </a:r>
            <a:endParaRPr lang="en-US" sz="1800" dirty="0"/>
          </a:p>
          <a:p>
            <a:r>
              <a:rPr lang="en-US" sz="1800" dirty="0"/>
              <a:t>Use </a:t>
            </a:r>
            <a:r>
              <a:rPr lang="en-US" sz="1800" b="1" dirty="0"/>
              <a:t>Volatility</a:t>
            </a:r>
            <a:r>
              <a:rPr lang="en-US" sz="1800" dirty="0"/>
              <a:t> to investigate what happened on the system.</a:t>
            </a:r>
          </a:p>
        </p:txBody>
      </p:sp>
    </p:spTree>
    <p:extLst>
      <p:ext uri="{BB962C8B-B14F-4D97-AF65-F5344CB8AC3E}">
        <p14:creationId xmlns:p14="http://schemas.microsoft.com/office/powerpoint/2010/main" val="1397131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74C71-31B4-247C-8115-3DD36ED5F4BE}"/>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8715403D-5261-7E49-5575-54BDC3E9A4D0}"/>
              </a:ext>
            </a:extLst>
          </p:cNvPr>
          <p:cNvSpPr>
            <a:spLocks noGrp="1"/>
          </p:cNvSpPr>
          <p:nvPr>
            <p:ph type="title"/>
          </p:nvPr>
        </p:nvSpPr>
        <p:spPr>
          <a:xfrm>
            <a:off x="838200" y="365125"/>
            <a:ext cx="10515600" cy="1325563"/>
          </a:xfrm>
        </p:spPr>
        <p:txBody>
          <a:bodyPr/>
          <a:lstStyle/>
          <a:p>
            <a:r>
              <a:rPr lang="en-US" b="1" dirty="0">
                <a:solidFill>
                  <a:srgbClr val="163E64"/>
                </a:solidFill>
                <a:latin typeface="Calibri" panose="020F0502020204030204" pitchFamily="34" charset="0"/>
              </a:rPr>
              <a:t>Memory Exercise (B)</a:t>
            </a:r>
          </a:p>
        </p:txBody>
      </p:sp>
      <p:sp>
        <p:nvSpPr>
          <p:cNvPr id="3" name="Content Placeholder 2">
            <a:extLst>
              <a:ext uri="{FF2B5EF4-FFF2-40B4-BE49-F238E27FC236}">
                <a16:creationId xmlns:a16="http://schemas.microsoft.com/office/drawing/2014/main" id="{4393A1E0-10D1-62B0-72AA-8B8961B26A7E}"/>
              </a:ext>
            </a:extLst>
          </p:cNvPr>
          <p:cNvSpPr>
            <a:spLocks noGrp="1"/>
          </p:cNvSpPr>
          <p:nvPr>
            <p:ph idx="1"/>
          </p:nvPr>
        </p:nvSpPr>
        <p:spPr/>
        <p:txBody>
          <a:bodyPr>
            <a:noAutofit/>
          </a:bodyPr>
          <a:lstStyle/>
          <a:p>
            <a:pPr marL="0" indent="0">
              <a:buNone/>
            </a:pPr>
            <a:r>
              <a:rPr lang="en-US" sz="1800" b="1" dirty="0"/>
              <a:t>Step 1 — Identify the Operating System</a:t>
            </a:r>
          </a:p>
          <a:p>
            <a:r>
              <a:rPr lang="en-US" sz="1800" dirty="0"/>
              <a:t>Before running analysis, you must determine the Windows version used in the memory image.</a:t>
            </a:r>
          </a:p>
          <a:p>
            <a:pPr marL="0" indent="0">
              <a:buNone/>
            </a:pPr>
            <a:endParaRPr lang="en-US" sz="1800" dirty="0"/>
          </a:p>
          <a:p>
            <a:pPr marL="0" indent="0">
              <a:buNone/>
            </a:pPr>
            <a:r>
              <a:rPr lang="en-US" sz="1800" b="1" dirty="0"/>
              <a:t>Questions</a:t>
            </a:r>
          </a:p>
          <a:p>
            <a:r>
              <a:rPr lang="en-US" sz="1800" dirty="0"/>
              <a:t>What </a:t>
            </a:r>
            <a:r>
              <a:rPr lang="en-US" sz="1800" b="1" dirty="0"/>
              <a:t>Windows version</a:t>
            </a:r>
            <a:r>
              <a:rPr lang="en-US" sz="1800" dirty="0"/>
              <a:t> is the memory image running?</a:t>
            </a:r>
          </a:p>
          <a:p>
            <a:r>
              <a:rPr lang="en-US" sz="1800" dirty="0"/>
              <a:t>What </a:t>
            </a:r>
            <a:r>
              <a:rPr lang="en-US" sz="1800" b="1" dirty="0"/>
              <a:t>profile</a:t>
            </a:r>
            <a:r>
              <a:rPr lang="en-US" sz="1800" dirty="0"/>
              <a:t> should be used for further analysis?</a:t>
            </a:r>
          </a:p>
          <a:p>
            <a:pPr marL="0" indent="0" algn="just">
              <a:buNone/>
            </a:pPr>
            <a:endParaRPr lang="en-US" sz="1800" dirty="0"/>
          </a:p>
        </p:txBody>
      </p:sp>
    </p:spTree>
    <p:extLst>
      <p:ext uri="{BB962C8B-B14F-4D97-AF65-F5344CB8AC3E}">
        <p14:creationId xmlns:p14="http://schemas.microsoft.com/office/powerpoint/2010/main" val="3410349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FD8DD-C14F-DEDB-4105-2D315D225F5E}"/>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420C4778-8AFD-A1BE-B149-715F995B9390}"/>
              </a:ext>
            </a:extLst>
          </p:cNvPr>
          <p:cNvSpPr>
            <a:spLocks noGrp="1"/>
          </p:cNvSpPr>
          <p:nvPr>
            <p:ph type="title"/>
          </p:nvPr>
        </p:nvSpPr>
        <p:spPr>
          <a:xfrm>
            <a:off x="838200" y="365125"/>
            <a:ext cx="10515600" cy="1325563"/>
          </a:xfrm>
        </p:spPr>
        <p:txBody>
          <a:bodyPr/>
          <a:lstStyle/>
          <a:p>
            <a:r>
              <a:rPr lang="en-US" b="1" dirty="0">
                <a:solidFill>
                  <a:srgbClr val="163E64"/>
                </a:solidFill>
                <a:latin typeface="Calibri" panose="020F0502020204030204" pitchFamily="34" charset="0"/>
              </a:rPr>
              <a:t>Memory Exercise (B)</a:t>
            </a:r>
          </a:p>
        </p:txBody>
      </p:sp>
      <p:sp>
        <p:nvSpPr>
          <p:cNvPr id="3" name="Content Placeholder 2">
            <a:extLst>
              <a:ext uri="{FF2B5EF4-FFF2-40B4-BE49-F238E27FC236}">
                <a16:creationId xmlns:a16="http://schemas.microsoft.com/office/drawing/2014/main" id="{018E831B-0593-3763-BDA3-695F87FD4FA1}"/>
              </a:ext>
            </a:extLst>
          </p:cNvPr>
          <p:cNvSpPr>
            <a:spLocks noGrp="1"/>
          </p:cNvSpPr>
          <p:nvPr>
            <p:ph idx="1"/>
          </p:nvPr>
        </p:nvSpPr>
        <p:spPr/>
        <p:txBody>
          <a:bodyPr>
            <a:noAutofit/>
          </a:bodyPr>
          <a:lstStyle/>
          <a:p>
            <a:pPr marL="0" indent="0">
              <a:buNone/>
            </a:pPr>
            <a:r>
              <a:rPr lang="en-US" sz="1800" b="1" dirty="0"/>
              <a:t>Step 2 — Identify and list any malicious C2 connections </a:t>
            </a:r>
          </a:p>
          <a:p>
            <a:r>
              <a:rPr lang="en-US" sz="1800" dirty="0"/>
              <a:t>Check if any program is communicating with external systems.</a:t>
            </a:r>
          </a:p>
          <a:p>
            <a:r>
              <a:rPr lang="en-US" sz="1800" dirty="0"/>
              <a:t>Malware often connects to a </a:t>
            </a:r>
            <a:r>
              <a:rPr lang="en-US" sz="1800" b="1" dirty="0"/>
              <a:t>Command &amp; Control (C2) server</a:t>
            </a:r>
            <a:r>
              <a:rPr lang="en-US" sz="1800" dirty="0"/>
              <a:t> to receive instructions.</a:t>
            </a:r>
          </a:p>
          <a:p>
            <a:endParaRPr lang="en-US" sz="1800" dirty="0"/>
          </a:p>
          <a:p>
            <a:pPr marL="0" indent="0">
              <a:buNone/>
            </a:pPr>
            <a:r>
              <a:rPr lang="en-US" sz="1800" b="1" dirty="0"/>
              <a:t>Questions</a:t>
            </a:r>
          </a:p>
          <a:p>
            <a:r>
              <a:rPr lang="en-US" sz="1800" dirty="0"/>
              <a:t>Which process has an active network connection?</a:t>
            </a:r>
          </a:p>
          <a:p>
            <a:r>
              <a:rPr lang="en-US" sz="1800" dirty="0"/>
              <a:t>What IP address is the suspicious process connecting to?</a:t>
            </a:r>
          </a:p>
          <a:p>
            <a:r>
              <a:rPr lang="en-US" sz="1800" dirty="0"/>
              <a:t>What port number is being used?</a:t>
            </a:r>
          </a:p>
          <a:p>
            <a:pPr marL="0" indent="0" algn="just">
              <a:buNone/>
            </a:pPr>
            <a:endParaRPr lang="en-US" sz="1800" dirty="0"/>
          </a:p>
        </p:txBody>
      </p:sp>
    </p:spTree>
    <p:extLst>
      <p:ext uri="{BB962C8B-B14F-4D97-AF65-F5344CB8AC3E}">
        <p14:creationId xmlns:p14="http://schemas.microsoft.com/office/powerpoint/2010/main" val="3524795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31534-96A1-DC01-109E-98EFF74F8494}"/>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0A589976-D539-3F9E-43A7-AD6F1F5B2D5A}"/>
              </a:ext>
            </a:extLst>
          </p:cNvPr>
          <p:cNvSpPr>
            <a:spLocks noGrp="1"/>
          </p:cNvSpPr>
          <p:nvPr>
            <p:ph type="title"/>
          </p:nvPr>
        </p:nvSpPr>
        <p:spPr>
          <a:xfrm>
            <a:off x="838200" y="365125"/>
            <a:ext cx="10515600" cy="1325563"/>
          </a:xfrm>
        </p:spPr>
        <p:txBody>
          <a:bodyPr/>
          <a:lstStyle/>
          <a:p>
            <a:r>
              <a:rPr lang="en-US" b="1" dirty="0">
                <a:solidFill>
                  <a:srgbClr val="163E64"/>
                </a:solidFill>
                <a:latin typeface="Calibri" panose="020F0502020204030204" pitchFamily="34" charset="0"/>
              </a:rPr>
              <a:t>Memory Exercise (B)</a:t>
            </a:r>
          </a:p>
        </p:txBody>
      </p:sp>
      <p:sp>
        <p:nvSpPr>
          <p:cNvPr id="3" name="Content Placeholder 2">
            <a:extLst>
              <a:ext uri="{FF2B5EF4-FFF2-40B4-BE49-F238E27FC236}">
                <a16:creationId xmlns:a16="http://schemas.microsoft.com/office/drawing/2014/main" id="{75614A22-615D-40DE-DF32-8393A5BF5BA3}"/>
              </a:ext>
            </a:extLst>
          </p:cNvPr>
          <p:cNvSpPr>
            <a:spLocks noGrp="1"/>
          </p:cNvSpPr>
          <p:nvPr>
            <p:ph idx="1"/>
          </p:nvPr>
        </p:nvSpPr>
        <p:spPr/>
        <p:txBody>
          <a:bodyPr>
            <a:noAutofit/>
          </a:bodyPr>
          <a:lstStyle/>
          <a:p>
            <a:pPr marL="0" indent="0">
              <a:buNone/>
            </a:pPr>
            <a:r>
              <a:rPr lang="en-US" sz="1800" b="1" dirty="0"/>
              <a:t>Step 3 — Identify and list any suspicious processes</a:t>
            </a:r>
          </a:p>
          <a:p>
            <a:pPr marL="0" indent="0">
              <a:buNone/>
            </a:pPr>
            <a:r>
              <a:rPr lang="en-US" sz="1800" dirty="0"/>
              <a:t>Check if any processes are suspicious (e.g. notepad.exe running from command line, processes that have unusual names or unknown names)</a:t>
            </a:r>
          </a:p>
          <a:p>
            <a:endParaRPr lang="en-US" sz="1800" dirty="0"/>
          </a:p>
          <a:p>
            <a:pPr marL="0" indent="0">
              <a:buNone/>
            </a:pPr>
            <a:r>
              <a:rPr lang="en-US" sz="1800" b="1" dirty="0"/>
              <a:t>Questions</a:t>
            </a:r>
          </a:p>
          <a:p>
            <a:r>
              <a:rPr lang="en-US" sz="1800" dirty="0"/>
              <a:t>Can you identify any suspicious processes? Why is this process suspicious?</a:t>
            </a:r>
          </a:p>
          <a:p>
            <a:r>
              <a:rPr lang="en-US" sz="1800" dirty="0"/>
              <a:t>What is the PID of the suspicious process?</a:t>
            </a:r>
          </a:p>
          <a:p>
            <a:pPr marL="0" indent="0">
              <a:buNone/>
            </a:pPr>
            <a:endParaRPr lang="en-US" sz="1800" dirty="0"/>
          </a:p>
          <a:p>
            <a:pPr marL="0" indent="0">
              <a:buNone/>
            </a:pPr>
            <a:r>
              <a:rPr lang="en-US" sz="1800" dirty="0"/>
              <a:t>This is a trick question! Just based on the list of processes produced by Volatility’s </a:t>
            </a:r>
            <a:r>
              <a:rPr lang="en-US" sz="1800" b="1" dirty="0" err="1"/>
              <a:t>pslist</a:t>
            </a:r>
            <a:r>
              <a:rPr lang="en-US" sz="1800" b="1" dirty="0"/>
              <a:t> </a:t>
            </a:r>
            <a:r>
              <a:rPr lang="en-US" sz="1800" dirty="0"/>
              <a:t>and </a:t>
            </a:r>
            <a:r>
              <a:rPr lang="en-US" sz="1800" b="1" dirty="0" err="1"/>
              <a:t>pstree</a:t>
            </a:r>
            <a:r>
              <a:rPr lang="en-US" sz="1800" b="1" dirty="0"/>
              <a:t> </a:t>
            </a:r>
            <a:r>
              <a:rPr lang="en-US" sz="1800" dirty="0"/>
              <a:t>plugins, there is no obvious malicious process. However, based on the previous Step, we identified that there is a process here that is connecting to an external IP. That is the suspicious process! </a:t>
            </a:r>
            <a:endParaRPr lang="en-US" sz="1800" b="1" dirty="0"/>
          </a:p>
        </p:txBody>
      </p:sp>
      <p:sp>
        <p:nvSpPr>
          <p:cNvPr id="7" name="TextBox 6">
            <a:extLst>
              <a:ext uri="{FF2B5EF4-FFF2-40B4-BE49-F238E27FC236}">
                <a16:creationId xmlns:a16="http://schemas.microsoft.com/office/drawing/2014/main" id="{1FFEA716-A4F4-BD7F-9D6B-5F32C78FA53F}"/>
              </a:ext>
            </a:extLst>
          </p:cNvPr>
          <p:cNvSpPr txBox="1"/>
          <p:nvPr/>
        </p:nvSpPr>
        <p:spPr>
          <a:xfrm>
            <a:off x="1063752" y="4955482"/>
            <a:ext cx="10123030" cy="1288879"/>
          </a:xfrm>
          <a:prstGeom prst="rect">
            <a:avLst/>
          </a:prstGeom>
          <a:solidFill>
            <a:schemeClr val="bg1">
              <a:lumMod val="85000"/>
            </a:schemeClr>
          </a:solidFill>
          <a:ln>
            <a:solidFill>
              <a:schemeClr val="tx1"/>
            </a:solidFill>
          </a:ln>
        </p:spPr>
        <p:txBody>
          <a:bodyPr wrap="square" rtlCol="0" anchor="ctr">
            <a:spAutoFit/>
          </a:bodyPr>
          <a:lstStyle/>
          <a:p>
            <a:pPr algn="ctr">
              <a:lnSpc>
                <a:spcPct val="150000"/>
              </a:lnSpc>
            </a:pPr>
            <a:r>
              <a:rPr lang="en-SG" b="1" dirty="0"/>
              <a:t>Hint!</a:t>
            </a:r>
          </a:p>
          <a:p>
            <a:pPr algn="ctr">
              <a:lnSpc>
                <a:spcPct val="150000"/>
              </a:lnSpc>
            </a:pPr>
            <a:endParaRPr lang="en-SG" b="1" dirty="0"/>
          </a:p>
          <a:p>
            <a:pPr algn="ctr">
              <a:lnSpc>
                <a:spcPct val="150000"/>
              </a:lnSpc>
            </a:pPr>
            <a:endParaRPr lang="en-SG" b="1" dirty="0"/>
          </a:p>
        </p:txBody>
      </p:sp>
    </p:spTree>
    <p:extLst>
      <p:ext uri="{BB962C8B-B14F-4D97-AF65-F5344CB8AC3E}">
        <p14:creationId xmlns:p14="http://schemas.microsoft.com/office/powerpoint/2010/main" val="468189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childTnLst>
              </p:cTn>
              <p:nextCondLst>
                <p:cond evt="onClick" delay="0">
                  <p:tgtEl>
                    <p:spTgt spid="7"/>
                  </p:tgtEl>
                </p:cond>
              </p:nextCondLst>
            </p:seq>
          </p:childTnLst>
        </p:cTn>
      </p:par>
    </p:tnLst>
    <p:bldLst>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8EF81-1B16-B14E-1124-A8B03F01488C}"/>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E4384ED2-8F1E-F3D6-EC54-9579C1EBDC8F}"/>
              </a:ext>
            </a:extLst>
          </p:cNvPr>
          <p:cNvSpPr>
            <a:spLocks noGrp="1"/>
          </p:cNvSpPr>
          <p:nvPr>
            <p:ph type="title"/>
          </p:nvPr>
        </p:nvSpPr>
        <p:spPr>
          <a:xfrm>
            <a:off x="838200" y="365125"/>
            <a:ext cx="10515600" cy="1325563"/>
          </a:xfrm>
        </p:spPr>
        <p:txBody>
          <a:bodyPr/>
          <a:lstStyle/>
          <a:p>
            <a:r>
              <a:rPr lang="en-US" b="1" dirty="0">
                <a:solidFill>
                  <a:srgbClr val="163E64"/>
                </a:solidFill>
                <a:latin typeface="Calibri" panose="020F0502020204030204" pitchFamily="34" charset="0"/>
              </a:rPr>
              <a:t>Memory Exercise (B)</a:t>
            </a:r>
          </a:p>
        </p:txBody>
      </p:sp>
      <p:sp>
        <p:nvSpPr>
          <p:cNvPr id="3" name="Content Placeholder 2">
            <a:extLst>
              <a:ext uri="{FF2B5EF4-FFF2-40B4-BE49-F238E27FC236}">
                <a16:creationId xmlns:a16="http://schemas.microsoft.com/office/drawing/2014/main" id="{863CB856-3BA5-5699-BCE7-27A0A730F796}"/>
              </a:ext>
            </a:extLst>
          </p:cNvPr>
          <p:cNvSpPr>
            <a:spLocks noGrp="1"/>
          </p:cNvSpPr>
          <p:nvPr>
            <p:ph idx="1"/>
          </p:nvPr>
        </p:nvSpPr>
        <p:spPr/>
        <p:txBody>
          <a:bodyPr>
            <a:noAutofit/>
          </a:bodyPr>
          <a:lstStyle/>
          <a:p>
            <a:pPr marL="0" indent="0">
              <a:buNone/>
            </a:pPr>
            <a:r>
              <a:rPr lang="en-US" sz="1800" b="1" dirty="0"/>
              <a:t>Step 4 — Check for Code Injection</a:t>
            </a:r>
          </a:p>
          <a:p>
            <a:pPr marL="0" indent="0">
              <a:buNone/>
            </a:pPr>
            <a:r>
              <a:rPr lang="en-US" sz="1800" dirty="0"/>
              <a:t>Code injection is a technique where malware </a:t>
            </a:r>
            <a:r>
              <a:rPr lang="en-US" sz="1800" b="1" dirty="0"/>
              <a:t>hides inside a normal program</a:t>
            </a:r>
            <a:r>
              <a:rPr lang="en-US" sz="1800" dirty="0"/>
              <a:t> by inserting its own malicious code into that program’s memory. If a trusted process is:</a:t>
            </a:r>
          </a:p>
          <a:p>
            <a:pPr lvl="1"/>
            <a:r>
              <a:rPr lang="en-US" sz="1800" dirty="0"/>
              <a:t>Running unknown code</a:t>
            </a:r>
          </a:p>
          <a:p>
            <a:pPr lvl="1"/>
            <a:r>
              <a:rPr lang="en-US" sz="1800" dirty="0"/>
              <a:t>Communicating with suspicious IPs</a:t>
            </a:r>
          </a:p>
          <a:p>
            <a:pPr marL="0" indent="0">
              <a:buNone/>
            </a:pPr>
            <a:r>
              <a:rPr lang="en-US" sz="1800" dirty="0"/>
              <a:t>… it may indicate code injection!</a:t>
            </a:r>
          </a:p>
          <a:p>
            <a:pPr marL="0" indent="0">
              <a:buNone/>
            </a:pPr>
            <a:endParaRPr lang="en-US" sz="1800" dirty="0"/>
          </a:p>
          <a:p>
            <a:pPr marL="0" indent="0">
              <a:buNone/>
            </a:pPr>
            <a:r>
              <a:rPr lang="en-US" sz="1800" b="1" dirty="0"/>
              <a:t>Questions</a:t>
            </a:r>
          </a:p>
          <a:p>
            <a:r>
              <a:rPr lang="en-US" sz="1800" dirty="0"/>
              <a:t>Which process shows signs of injected code?</a:t>
            </a:r>
          </a:p>
          <a:p>
            <a:r>
              <a:rPr lang="en-US" sz="1800" dirty="0"/>
              <a:t>What is the PID of that process?</a:t>
            </a:r>
          </a:p>
          <a:p>
            <a:pPr marL="0" indent="0" algn="just">
              <a:buNone/>
            </a:pPr>
            <a:endParaRPr lang="en-US" sz="1800" dirty="0"/>
          </a:p>
          <a:p>
            <a:pPr marL="0" indent="0" algn="just">
              <a:buNone/>
            </a:pPr>
            <a:r>
              <a:rPr lang="en-US" sz="1800" dirty="0"/>
              <a:t>Look for suspicious memory regions marked as PAGE_EXECUTE_READWRITE</a:t>
            </a:r>
          </a:p>
        </p:txBody>
      </p:sp>
      <p:sp>
        <p:nvSpPr>
          <p:cNvPr id="6" name="TextBox 5">
            <a:extLst>
              <a:ext uri="{FF2B5EF4-FFF2-40B4-BE49-F238E27FC236}">
                <a16:creationId xmlns:a16="http://schemas.microsoft.com/office/drawing/2014/main" id="{1879D3FA-E04C-DF69-DAE6-447E5323F6BE}"/>
              </a:ext>
            </a:extLst>
          </p:cNvPr>
          <p:cNvSpPr txBox="1"/>
          <p:nvPr/>
        </p:nvSpPr>
        <p:spPr>
          <a:xfrm>
            <a:off x="838200" y="5719537"/>
            <a:ext cx="10123030" cy="883383"/>
          </a:xfrm>
          <a:prstGeom prst="rect">
            <a:avLst/>
          </a:prstGeom>
          <a:solidFill>
            <a:schemeClr val="bg1">
              <a:lumMod val="85000"/>
            </a:schemeClr>
          </a:solidFill>
          <a:ln>
            <a:solidFill>
              <a:schemeClr val="tx1"/>
            </a:solidFill>
          </a:ln>
        </p:spPr>
        <p:txBody>
          <a:bodyPr wrap="square" rtlCol="0" anchor="ctr">
            <a:spAutoFit/>
          </a:bodyPr>
          <a:lstStyle/>
          <a:p>
            <a:pPr algn="ctr">
              <a:lnSpc>
                <a:spcPct val="150000"/>
              </a:lnSpc>
            </a:pPr>
            <a:r>
              <a:rPr lang="en-SG" b="1" dirty="0"/>
              <a:t>Hint!</a:t>
            </a:r>
          </a:p>
          <a:p>
            <a:pPr algn="ctr">
              <a:lnSpc>
                <a:spcPct val="150000"/>
              </a:lnSpc>
            </a:pPr>
            <a:endParaRPr lang="en-SG" b="1" dirty="0"/>
          </a:p>
        </p:txBody>
      </p:sp>
    </p:spTree>
    <p:extLst>
      <p:ext uri="{BB962C8B-B14F-4D97-AF65-F5344CB8AC3E}">
        <p14:creationId xmlns:p14="http://schemas.microsoft.com/office/powerpoint/2010/main" val="2570391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childTnLst>
              </p:cTn>
              <p:nextCondLst>
                <p:cond evt="onClick" delay="0">
                  <p:tgtEl>
                    <p:spTgt spid="6"/>
                  </p:tgtEl>
                </p:cond>
              </p:nextCondLst>
            </p:seq>
          </p:childTnLst>
        </p:cTn>
      </p:par>
    </p:tnLst>
    <p:bldLst>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5955A-5281-52AC-CAF0-E9D02CF6556C}"/>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5F92D4AC-BDAE-6186-8BCA-C15B0DF48048}"/>
              </a:ext>
            </a:extLst>
          </p:cNvPr>
          <p:cNvSpPr>
            <a:spLocks noGrp="1"/>
          </p:cNvSpPr>
          <p:nvPr>
            <p:ph type="title"/>
          </p:nvPr>
        </p:nvSpPr>
        <p:spPr>
          <a:xfrm>
            <a:off x="838200" y="365125"/>
            <a:ext cx="10515600" cy="1325563"/>
          </a:xfrm>
        </p:spPr>
        <p:txBody>
          <a:bodyPr/>
          <a:lstStyle/>
          <a:p>
            <a:r>
              <a:rPr lang="en-US" b="1" dirty="0">
                <a:solidFill>
                  <a:srgbClr val="163E64"/>
                </a:solidFill>
                <a:latin typeface="Calibri" panose="020F0502020204030204" pitchFamily="34" charset="0"/>
              </a:rPr>
              <a:t>Memory Exercise (B)</a:t>
            </a:r>
          </a:p>
        </p:txBody>
      </p:sp>
      <p:sp>
        <p:nvSpPr>
          <p:cNvPr id="3" name="Content Placeholder 2">
            <a:extLst>
              <a:ext uri="{FF2B5EF4-FFF2-40B4-BE49-F238E27FC236}">
                <a16:creationId xmlns:a16="http://schemas.microsoft.com/office/drawing/2014/main" id="{6F7A5C3E-E742-F1BA-83F1-9D95CAEECE8C}"/>
              </a:ext>
            </a:extLst>
          </p:cNvPr>
          <p:cNvSpPr>
            <a:spLocks noGrp="1"/>
          </p:cNvSpPr>
          <p:nvPr>
            <p:ph idx="1"/>
          </p:nvPr>
        </p:nvSpPr>
        <p:spPr/>
        <p:txBody>
          <a:bodyPr>
            <a:noAutofit/>
          </a:bodyPr>
          <a:lstStyle/>
          <a:p>
            <a:pPr marL="0" indent="0">
              <a:buNone/>
            </a:pPr>
            <a:r>
              <a:rPr lang="en-US" sz="1800" b="1" dirty="0"/>
              <a:t>Step 4.1 — Dump and verify the Suspicious Process</a:t>
            </a:r>
          </a:p>
          <a:p>
            <a:pPr marL="0" indent="0">
              <a:buNone/>
            </a:pPr>
            <a:r>
              <a:rPr lang="en-US" sz="1800" dirty="0"/>
              <a:t>Once you have identified a suspicious process (from </a:t>
            </a:r>
            <a:r>
              <a:rPr lang="en-US" sz="1800" b="1" dirty="0"/>
              <a:t>Step 3 / 4</a:t>
            </a:r>
            <a:r>
              <a:rPr lang="en-US" sz="1800" dirty="0"/>
              <a:t>), you can extract it from memory and check if it is malicious. We will do the following steps:</a:t>
            </a:r>
          </a:p>
          <a:p>
            <a:r>
              <a:rPr lang="en-US" sz="1800" dirty="0"/>
              <a:t>Extract (dump) the process from memory</a:t>
            </a:r>
          </a:p>
          <a:p>
            <a:r>
              <a:rPr lang="en-US" sz="1800" dirty="0"/>
              <a:t>Generate its file hash</a:t>
            </a:r>
          </a:p>
          <a:p>
            <a:r>
              <a:rPr lang="en-US" sz="1800" dirty="0"/>
              <a:t>Check the hash on </a:t>
            </a:r>
            <a:r>
              <a:rPr lang="en-US" sz="1800" dirty="0" err="1"/>
              <a:t>VirusTotal</a:t>
            </a:r>
            <a:r>
              <a:rPr lang="en-US" sz="1800" dirty="0"/>
              <a:t> to see if it is known malware</a:t>
            </a:r>
          </a:p>
          <a:p>
            <a:pPr marL="0" indent="0">
              <a:buNone/>
            </a:pPr>
            <a:endParaRPr lang="en-US" sz="1800" dirty="0"/>
          </a:p>
          <a:p>
            <a:pPr marL="0" indent="0">
              <a:buNone/>
            </a:pPr>
            <a:r>
              <a:rPr lang="en-US" sz="1800" b="1" dirty="0"/>
              <a:t>Questions</a:t>
            </a:r>
            <a:endParaRPr lang="en-US" sz="1800" dirty="0"/>
          </a:p>
          <a:p>
            <a:r>
              <a:rPr lang="en-US" sz="1800" dirty="0"/>
              <a:t>What is the filename of the dumped process?</a:t>
            </a:r>
          </a:p>
          <a:p>
            <a:r>
              <a:rPr lang="en-US" sz="1800" dirty="0"/>
              <a:t>What is the MD5 hash of the file?</a:t>
            </a:r>
          </a:p>
          <a:p>
            <a:r>
              <a:rPr lang="en-US" sz="1800" dirty="0"/>
              <a:t>How many antivirus engines flagged it as malicious on </a:t>
            </a:r>
            <a:r>
              <a:rPr lang="en-US" sz="1800" dirty="0" err="1"/>
              <a:t>VirusTotal</a:t>
            </a:r>
            <a:r>
              <a:rPr lang="en-US" sz="1800" dirty="0"/>
              <a:t>?</a:t>
            </a:r>
          </a:p>
        </p:txBody>
      </p:sp>
      <p:sp>
        <p:nvSpPr>
          <p:cNvPr id="6" name="TextBox 5">
            <a:extLst>
              <a:ext uri="{FF2B5EF4-FFF2-40B4-BE49-F238E27FC236}">
                <a16:creationId xmlns:a16="http://schemas.microsoft.com/office/drawing/2014/main" id="{3CA98DD1-E05C-6470-81DA-55B12611C08E}"/>
              </a:ext>
            </a:extLst>
          </p:cNvPr>
          <p:cNvSpPr txBox="1"/>
          <p:nvPr/>
        </p:nvSpPr>
        <p:spPr>
          <a:xfrm>
            <a:off x="7568881" y="3021629"/>
            <a:ext cx="4327733" cy="2862322"/>
          </a:xfrm>
          <a:prstGeom prst="rect">
            <a:avLst/>
          </a:prstGeom>
          <a:noFill/>
          <a:ln w="12700">
            <a:solidFill>
              <a:schemeClr val="tx1"/>
            </a:solidFill>
          </a:ln>
        </p:spPr>
        <p:txBody>
          <a:bodyPr wrap="square" rtlCol="0">
            <a:spAutoFit/>
          </a:bodyPr>
          <a:lstStyle/>
          <a:p>
            <a:r>
              <a:rPr lang="en-SG" dirty="0"/>
              <a:t>If you used the </a:t>
            </a:r>
            <a:r>
              <a:rPr lang="en-SG" dirty="0" err="1"/>
              <a:t>procdump</a:t>
            </a:r>
            <a:r>
              <a:rPr lang="en-SG" dirty="0"/>
              <a:t> module on process id 856 and obtained the file </a:t>
            </a:r>
            <a:r>
              <a:rPr lang="en-SG" b="1" dirty="0"/>
              <a:t>executable.856.exe</a:t>
            </a:r>
            <a:r>
              <a:rPr lang="en-SG" dirty="0"/>
              <a:t>, the result on VirusTotal might not be what you expect. It’s non-malicious! </a:t>
            </a:r>
          </a:p>
          <a:p>
            <a:r>
              <a:rPr lang="en-SG" dirty="0"/>
              <a:t>But we have confirmed that there was C2 traffic from this process, so our next move is to dump the specific memory region found by </a:t>
            </a:r>
            <a:r>
              <a:rPr lang="en-SG" dirty="0" err="1"/>
              <a:t>maldump</a:t>
            </a:r>
            <a:r>
              <a:rPr lang="en-SG" dirty="0"/>
              <a:t> using </a:t>
            </a:r>
            <a:r>
              <a:rPr lang="en-SG" b="1" dirty="0" err="1"/>
              <a:t>vaddump</a:t>
            </a:r>
            <a:r>
              <a:rPr lang="en-SG" b="1" dirty="0"/>
              <a:t> </a:t>
            </a:r>
            <a:r>
              <a:rPr lang="en-SG" dirty="0"/>
              <a:t>to check again!</a:t>
            </a:r>
          </a:p>
        </p:txBody>
      </p:sp>
      <p:sp>
        <p:nvSpPr>
          <p:cNvPr id="7" name="TextBox 6">
            <a:extLst>
              <a:ext uri="{FF2B5EF4-FFF2-40B4-BE49-F238E27FC236}">
                <a16:creationId xmlns:a16="http://schemas.microsoft.com/office/drawing/2014/main" id="{AC0B695D-D5CB-EAF4-11A0-540F8BBEBF30}"/>
              </a:ext>
            </a:extLst>
          </p:cNvPr>
          <p:cNvSpPr txBox="1"/>
          <p:nvPr/>
        </p:nvSpPr>
        <p:spPr>
          <a:xfrm>
            <a:off x="7568881" y="2986845"/>
            <a:ext cx="4327733" cy="2960875"/>
          </a:xfrm>
          <a:prstGeom prst="rect">
            <a:avLst/>
          </a:prstGeom>
          <a:solidFill>
            <a:schemeClr val="bg1">
              <a:lumMod val="85000"/>
            </a:schemeClr>
          </a:solidFill>
          <a:ln>
            <a:solidFill>
              <a:schemeClr val="tx1"/>
            </a:solidFill>
          </a:ln>
        </p:spPr>
        <p:txBody>
          <a:bodyPr wrap="square" rtlCol="0" anchor="ctr">
            <a:spAutoFit/>
          </a:bodyPr>
          <a:lstStyle/>
          <a:p>
            <a:pPr algn="ctr">
              <a:lnSpc>
                <a:spcPct val="150000"/>
              </a:lnSpc>
            </a:pPr>
            <a:endParaRPr lang="en-SG" b="1" dirty="0"/>
          </a:p>
          <a:p>
            <a:pPr algn="ctr">
              <a:lnSpc>
                <a:spcPct val="150000"/>
              </a:lnSpc>
            </a:pPr>
            <a:endParaRPr lang="en-SG" b="1" dirty="0"/>
          </a:p>
          <a:p>
            <a:pPr algn="ctr">
              <a:lnSpc>
                <a:spcPct val="150000"/>
              </a:lnSpc>
            </a:pPr>
            <a:endParaRPr lang="en-SG" b="1" dirty="0"/>
          </a:p>
          <a:p>
            <a:pPr algn="ctr">
              <a:lnSpc>
                <a:spcPct val="150000"/>
              </a:lnSpc>
            </a:pPr>
            <a:r>
              <a:rPr lang="en-SG" b="1" dirty="0"/>
              <a:t>Hint!</a:t>
            </a:r>
            <a:br>
              <a:rPr lang="en-SG" b="1" dirty="0"/>
            </a:br>
            <a:endParaRPr lang="en-SG" b="1" dirty="0"/>
          </a:p>
          <a:p>
            <a:pPr algn="ctr">
              <a:lnSpc>
                <a:spcPct val="150000"/>
              </a:lnSpc>
            </a:pPr>
            <a:endParaRPr lang="en-SG" b="1" dirty="0"/>
          </a:p>
          <a:p>
            <a:pPr algn="ctr">
              <a:lnSpc>
                <a:spcPct val="150000"/>
              </a:lnSpc>
            </a:pPr>
            <a:endParaRPr lang="en-SG" b="1" dirty="0"/>
          </a:p>
        </p:txBody>
      </p:sp>
    </p:spTree>
    <p:extLst>
      <p:ext uri="{BB962C8B-B14F-4D97-AF65-F5344CB8AC3E}">
        <p14:creationId xmlns:p14="http://schemas.microsoft.com/office/powerpoint/2010/main" val="2498011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childTnLst>
              </p:cTn>
              <p:nextCondLst>
                <p:cond evt="onClick" delay="0">
                  <p:tgtEl>
                    <p:spTgt spid="7"/>
                  </p:tgtEl>
                </p:cond>
              </p:nextCondLst>
            </p:seq>
          </p:childTnLst>
        </p:cTn>
      </p:par>
    </p:tnLst>
    <p:bldLst>
      <p:bldP spid="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02410-3E3F-3DB8-6F56-7CB175A31CDE}"/>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58BF6C14-25BA-4398-A6C6-AC30A6D86A95}"/>
              </a:ext>
            </a:extLst>
          </p:cNvPr>
          <p:cNvSpPr>
            <a:spLocks noGrp="1"/>
          </p:cNvSpPr>
          <p:nvPr>
            <p:ph type="title"/>
          </p:nvPr>
        </p:nvSpPr>
        <p:spPr>
          <a:xfrm>
            <a:off x="838200" y="365125"/>
            <a:ext cx="10515600" cy="1325563"/>
          </a:xfrm>
        </p:spPr>
        <p:txBody>
          <a:bodyPr/>
          <a:lstStyle/>
          <a:p>
            <a:r>
              <a:rPr lang="en-US" b="1" dirty="0">
                <a:solidFill>
                  <a:srgbClr val="163E64"/>
                </a:solidFill>
                <a:latin typeface="Calibri" panose="020F0502020204030204" pitchFamily="34" charset="0"/>
              </a:rPr>
              <a:t>Memory Exercise (B)</a:t>
            </a:r>
          </a:p>
        </p:txBody>
      </p:sp>
      <p:sp>
        <p:nvSpPr>
          <p:cNvPr id="3" name="Content Placeholder 2">
            <a:extLst>
              <a:ext uri="{FF2B5EF4-FFF2-40B4-BE49-F238E27FC236}">
                <a16:creationId xmlns:a16="http://schemas.microsoft.com/office/drawing/2014/main" id="{A92B52BA-1993-0598-A216-0D51B6BE1BD2}"/>
              </a:ext>
            </a:extLst>
          </p:cNvPr>
          <p:cNvSpPr>
            <a:spLocks noGrp="1"/>
          </p:cNvSpPr>
          <p:nvPr>
            <p:ph idx="1"/>
          </p:nvPr>
        </p:nvSpPr>
        <p:spPr/>
        <p:txBody>
          <a:bodyPr>
            <a:noAutofit/>
          </a:bodyPr>
          <a:lstStyle/>
          <a:p>
            <a:pPr marL="0" indent="0">
              <a:buNone/>
            </a:pPr>
            <a:r>
              <a:rPr lang="en-US" sz="1800" b="1" dirty="0"/>
              <a:t>Step 4.1.2 — Dump and verify the Suspicious Process again!</a:t>
            </a:r>
          </a:p>
          <a:p>
            <a:pPr marL="0" indent="0">
              <a:buNone/>
            </a:pPr>
            <a:r>
              <a:rPr lang="en-US" sz="1800" dirty="0"/>
              <a:t>We dumped and checked the process, but it turns out to be non-malicious! However, from the evidence gathered so far, we need to conduct further investigations. We will now proceed to dump the memory region instead. We will do the following steps:</a:t>
            </a:r>
          </a:p>
          <a:p>
            <a:r>
              <a:rPr lang="en-US" sz="1800" dirty="0"/>
              <a:t>Extract (dump) the specific region of memory using </a:t>
            </a:r>
            <a:r>
              <a:rPr lang="en-US" sz="1800" b="1" dirty="0" err="1"/>
              <a:t>vaddump</a:t>
            </a:r>
            <a:r>
              <a:rPr lang="en-US" sz="1800" dirty="0"/>
              <a:t> module</a:t>
            </a:r>
          </a:p>
          <a:p>
            <a:r>
              <a:rPr lang="en-US" sz="1800" dirty="0"/>
              <a:t>Generate its file hash</a:t>
            </a:r>
          </a:p>
          <a:p>
            <a:r>
              <a:rPr lang="en-US" sz="1800" dirty="0"/>
              <a:t>Check the hash on </a:t>
            </a:r>
            <a:r>
              <a:rPr lang="en-US" sz="1800" dirty="0" err="1"/>
              <a:t>VirusTotal</a:t>
            </a:r>
            <a:r>
              <a:rPr lang="en-US" sz="1800" dirty="0"/>
              <a:t> to see if it is known malware</a:t>
            </a:r>
          </a:p>
          <a:p>
            <a:pPr marL="0" indent="0">
              <a:buNone/>
            </a:pPr>
            <a:endParaRPr lang="en-SG" sz="1800" dirty="0"/>
          </a:p>
          <a:p>
            <a:pPr marL="0" indent="0">
              <a:buNone/>
            </a:pPr>
            <a:r>
              <a:rPr lang="en-US" sz="1800" b="1" dirty="0"/>
              <a:t>Questions</a:t>
            </a:r>
          </a:p>
          <a:p>
            <a:r>
              <a:rPr lang="en-US" sz="1800" dirty="0"/>
              <a:t>What is the MD5 hash of the file dumped by </a:t>
            </a:r>
            <a:r>
              <a:rPr lang="en-US" sz="1800" b="1" dirty="0" err="1"/>
              <a:t>vaddump</a:t>
            </a:r>
            <a:r>
              <a:rPr lang="en-US" sz="1800" b="1" dirty="0"/>
              <a:t> </a:t>
            </a:r>
            <a:r>
              <a:rPr lang="en-US" sz="1800" dirty="0"/>
              <a:t>module?</a:t>
            </a:r>
            <a:endParaRPr lang="en-US" sz="1800" b="1" dirty="0"/>
          </a:p>
          <a:p>
            <a:r>
              <a:rPr lang="en-US" sz="1800" dirty="0"/>
              <a:t>How many antivirus engines flagged it as malicious on VirusTotal?</a:t>
            </a:r>
          </a:p>
          <a:p>
            <a:pPr marL="0" indent="0">
              <a:buNone/>
            </a:pPr>
            <a:endParaRPr lang="en-SG" sz="1800" dirty="0"/>
          </a:p>
        </p:txBody>
      </p:sp>
    </p:spTree>
    <p:extLst>
      <p:ext uri="{BB962C8B-B14F-4D97-AF65-F5344CB8AC3E}">
        <p14:creationId xmlns:p14="http://schemas.microsoft.com/office/powerpoint/2010/main" val="2462841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A3473-DD09-202A-E824-BA9AD34C23AE}"/>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5A6D4576-FE59-AF7C-CEE9-FFAD8330678D}"/>
              </a:ext>
            </a:extLst>
          </p:cNvPr>
          <p:cNvSpPr>
            <a:spLocks noGrp="1"/>
          </p:cNvSpPr>
          <p:nvPr>
            <p:ph type="title"/>
          </p:nvPr>
        </p:nvSpPr>
        <p:spPr>
          <a:xfrm>
            <a:off x="838200" y="365125"/>
            <a:ext cx="10515600" cy="1325563"/>
          </a:xfrm>
        </p:spPr>
        <p:txBody>
          <a:bodyPr/>
          <a:lstStyle/>
          <a:p>
            <a:r>
              <a:rPr lang="en-US" b="1" dirty="0">
                <a:solidFill>
                  <a:srgbClr val="163E64"/>
                </a:solidFill>
                <a:latin typeface="Calibri" panose="020F0502020204030204" pitchFamily="34" charset="0"/>
              </a:rPr>
              <a:t>Memory Exercise (B)</a:t>
            </a:r>
          </a:p>
        </p:txBody>
      </p:sp>
      <p:sp>
        <p:nvSpPr>
          <p:cNvPr id="3" name="Content Placeholder 2">
            <a:extLst>
              <a:ext uri="{FF2B5EF4-FFF2-40B4-BE49-F238E27FC236}">
                <a16:creationId xmlns:a16="http://schemas.microsoft.com/office/drawing/2014/main" id="{1C9CB8AC-DB3D-6F9E-9847-795C80C0A39F}"/>
              </a:ext>
            </a:extLst>
          </p:cNvPr>
          <p:cNvSpPr>
            <a:spLocks noGrp="1"/>
          </p:cNvSpPr>
          <p:nvPr>
            <p:ph idx="1"/>
          </p:nvPr>
        </p:nvSpPr>
        <p:spPr/>
        <p:txBody>
          <a:bodyPr>
            <a:noAutofit/>
          </a:bodyPr>
          <a:lstStyle/>
          <a:p>
            <a:pPr marL="0" indent="0">
              <a:buNone/>
            </a:pPr>
            <a:r>
              <a:rPr lang="en-US" sz="1800" b="1" dirty="0"/>
              <a:t>Step 5 — Check for Persistence</a:t>
            </a:r>
          </a:p>
          <a:p>
            <a:pPr marL="0" indent="0">
              <a:buNone/>
            </a:pPr>
            <a:r>
              <a:rPr lang="en-US" sz="1800" dirty="0"/>
              <a:t>Persistence is a technique used by malware to </a:t>
            </a:r>
            <a:r>
              <a:rPr lang="en-US" sz="1800" b="1" dirty="0"/>
              <a:t>stay on a system even after it is restarted</a:t>
            </a:r>
            <a:r>
              <a:rPr lang="en-US" sz="1800" dirty="0"/>
              <a:t>. Normally, when you reboot a computer, most programs stop running. However, malware can create ways to </a:t>
            </a:r>
            <a:r>
              <a:rPr lang="en-US" sz="1800" b="1" dirty="0"/>
              <a:t>automatically start again</a:t>
            </a:r>
            <a:r>
              <a:rPr lang="en-US" sz="1800" dirty="0"/>
              <a:t> every time the system boots.</a:t>
            </a:r>
          </a:p>
          <a:p>
            <a:pPr marL="0" indent="0">
              <a:buNone/>
            </a:pPr>
            <a:r>
              <a:rPr lang="en-US" sz="1800" dirty="0"/>
              <a:t>Common Persistence methods include:</a:t>
            </a:r>
          </a:p>
          <a:p>
            <a:pPr lvl="1"/>
            <a:r>
              <a:rPr lang="en-US" sz="1800" dirty="0"/>
              <a:t>Startup programs (run automatically when Windows starts)</a:t>
            </a:r>
          </a:p>
          <a:p>
            <a:pPr lvl="1"/>
            <a:r>
              <a:rPr lang="en-US" sz="1800" dirty="0"/>
              <a:t>Registry keys (e.g., Run / </a:t>
            </a:r>
            <a:r>
              <a:rPr lang="en-US" sz="1800" dirty="0" err="1"/>
              <a:t>RunOnce</a:t>
            </a:r>
            <a:r>
              <a:rPr lang="en-US" sz="1800" dirty="0"/>
              <a:t>)</a:t>
            </a:r>
          </a:p>
          <a:p>
            <a:pPr lvl="1"/>
            <a:r>
              <a:rPr lang="en-US" sz="1800" dirty="0"/>
              <a:t>Scheduled tasks or services</a:t>
            </a:r>
            <a:endParaRPr lang="en-US" sz="1800" b="1" dirty="0"/>
          </a:p>
          <a:p>
            <a:pPr marL="0" indent="0">
              <a:buNone/>
            </a:pPr>
            <a:r>
              <a:rPr lang="en-US" sz="1800" b="1" dirty="0"/>
              <a:t>Questions</a:t>
            </a:r>
          </a:p>
          <a:p>
            <a:r>
              <a:rPr lang="en-US" sz="1800" dirty="0"/>
              <a:t>Is there any suspicious program configured to </a:t>
            </a:r>
            <a:r>
              <a:rPr lang="en-US" sz="1800" b="1" dirty="0"/>
              <a:t>start automatically</a:t>
            </a:r>
            <a:r>
              <a:rPr lang="en-US" sz="1800" dirty="0"/>
              <a:t>?</a:t>
            </a:r>
          </a:p>
          <a:p>
            <a:pPr marL="0" indent="0">
              <a:buNone/>
            </a:pPr>
            <a:endParaRPr lang="en-US" sz="1800" dirty="0"/>
          </a:p>
          <a:p>
            <a:pPr marL="0" indent="0">
              <a:buNone/>
            </a:pPr>
            <a:r>
              <a:rPr lang="en-SG" sz="1800" b="1" dirty="0">
                <a:latin typeface="Consolas" panose="020B0609020204030204" pitchFamily="49" charset="0"/>
              </a:rPr>
              <a:t>Use a Volatility module to access this registry </a:t>
            </a:r>
            <a:r>
              <a:rPr lang="en-SG" sz="1800" b="1" dirty="0" err="1">
                <a:latin typeface="Consolas" panose="020B0609020204030204" pitchFamily="49" charset="0"/>
              </a:rPr>
              <a:t>key:Microsoft</a:t>
            </a:r>
            <a:r>
              <a:rPr lang="en-SG" sz="1800" b="1" dirty="0">
                <a:latin typeface="Consolas" panose="020B0609020204030204" pitchFamily="49" charset="0"/>
              </a:rPr>
              <a:t>\\Windows NT\\CurrentVersion\\</a:t>
            </a:r>
            <a:r>
              <a:rPr lang="en-SG" sz="1800" b="1" dirty="0" err="1">
                <a:latin typeface="Consolas" panose="020B0609020204030204" pitchFamily="49" charset="0"/>
              </a:rPr>
              <a:t>Winlogon</a:t>
            </a:r>
            <a:endParaRPr lang="en-US" sz="1800" dirty="0"/>
          </a:p>
        </p:txBody>
      </p:sp>
      <p:sp>
        <p:nvSpPr>
          <p:cNvPr id="9" name="TextBox 8">
            <a:extLst>
              <a:ext uri="{FF2B5EF4-FFF2-40B4-BE49-F238E27FC236}">
                <a16:creationId xmlns:a16="http://schemas.microsoft.com/office/drawing/2014/main" id="{2FEBC78D-22E2-07A4-363B-BDE65023F0D4}"/>
              </a:ext>
            </a:extLst>
          </p:cNvPr>
          <p:cNvSpPr txBox="1"/>
          <p:nvPr/>
        </p:nvSpPr>
        <p:spPr>
          <a:xfrm>
            <a:off x="838200" y="5630274"/>
            <a:ext cx="10123030" cy="883383"/>
          </a:xfrm>
          <a:prstGeom prst="rect">
            <a:avLst/>
          </a:prstGeom>
          <a:solidFill>
            <a:schemeClr val="bg1">
              <a:lumMod val="85000"/>
            </a:schemeClr>
          </a:solidFill>
          <a:ln>
            <a:solidFill>
              <a:schemeClr val="tx1"/>
            </a:solidFill>
          </a:ln>
        </p:spPr>
        <p:txBody>
          <a:bodyPr wrap="square" rtlCol="0" anchor="ctr">
            <a:spAutoFit/>
          </a:bodyPr>
          <a:lstStyle/>
          <a:p>
            <a:pPr algn="ctr">
              <a:lnSpc>
                <a:spcPct val="150000"/>
              </a:lnSpc>
            </a:pPr>
            <a:r>
              <a:rPr lang="en-SG" b="1" dirty="0"/>
              <a:t>Hint!</a:t>
            </a:r>
          </a:p>
          <a:p>
            <a:pPr algn="ctr">
              <a:lnSpc>
                <a:spcPct val="150000"/>
              </a:lnSpc>
            </a:pPr>
            <a:endParaRPr lang="en-SG" b="1" dirty="0"/>
          </a:p>
        </p:txBody>
      </p:sp>
    </p:spTree>
    <p:extLst>
      <p:ext uri="{BB962C8B-B14F-4D97-AF65-F5344CB8AC3E}">
        <p14:creationId xmlns:p14="http://schemas.microsoft.com/office/powerpoint/2010/main" val="3847170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childTnLst>
        </p:cTn>
      </p:par>
    </p:tnLst>
    <p:bldLst>
      <p:bldP spid="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C26FA-8051-7EC1-2E53-2E4C16D4461D}"/>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709B3367-1019-6E13-A49A-5CDB8CBFECE6}"/>
              </a:ext>
            </a:extLst>
          </p:cNvPr>
          <p:cNvSpPr>
            <a:spLocks noGrp="1"/>
          </p:cNvSpPr>
          <p:nvPr>
            <p:ph type="title"/>
          </p:nvPr>
        </p:nvSpPr>
        <p:spPr>
          <a:xfrm>
            <a:off x="838200" y="365125"/>
            <a:ext cx="10515600" cy="1325563"/>
          </a:xfrm>
        </p:spPr>
        <p:txBody>
          <a:bodyPr/>
          <a:lstStyle/>
          <a:p>
            <a:r>
              <a:rPr lang="en-US" b="1" dirty="0">
                <a:solidFill>
                  <a:srgbClr val="163E64"/>
                </a:solidFill>
                <a:latin typeface="Calibri" panose="020F0502020204030204" pitchFamily="34" charset="0"/>
              </a:rPr>
              <a:t>Memory Exercise (B)</a:t>
            </a:r>
          </a:p>
        </p:txBody>
      </p:sp>
      <p:sp>
        <p:nvSpPr>
          <p:cNvPr id="3" name="Content Placeholder 2">
            <a:extLst>
              <a:ext uri="{FF2B5EF4-FFF2-40B4-BE49-F238E27FC236}">
                <a16:creationId xmlns:a16="http://schemas.microsoft.com/office/drawing/2014/main" id="{BE67DCE4-5B73-6D0F-1955-67733EBD18B6}"/>
              </a:ext>
            </a:extLst>
          </p:cNvPr>
          <p:cNvSpPr>
            <a:spLocks noGrp="1"/>
          </p:cNvSpPr>
          <p:nvPr>
            <p:ph idx="1"/>
          </p:nvPr>
        </p:nvSpPr>
        <p:spPr/>
        <p:txBody>
          <a:bodyPr>
            <a:noAutofit/>
          </a:bodyPr>
          <a:lstStyle/>
          <a:p>
            <a:pPr marL="0" indent="0">
              <a:buNone/>
            </a:pPr>
            <a:r>
              <a:rPr lang="en-US" sz="1800" b="1" dirty="0"/>
              <a:t>Step 5.1 — Dump and verify the Suspicious Files</a:t>
            </a:r>
          </a:p>
          <a:p>
            <a:pPr marL="0" indent="0">
              <a:buNone/>
            </a:pPr>
            <a:r>
              <a:rPr lang="en-US" sz="1800" dirty="0"/>
              <a:t>Likewise,  for the suspicious files, you can extract them from memory and verify that they are malicious. We will do the following steps:</a:t>
            </a:r>
          </a:p>
          <a:p>
            <a:r>
              <a:rPr lang="en-US" sz="1800" dirty="0"/>
              <a:t>Extract (dump) the files (You will need to find the physical address of the files, use the </a:t>
            </a:r>
            <a:r>
              <a:rPr lang="en-US" sz="1800" b="1" dirty="0" err="1"/>
              <a:t>filescan</a:t>
            </a:r>
            <a:r>
              <a:rPr lang="en-US" sz="1800" dirty="0"/>
              <a:t> plugin!)</a:t>
            </a:r>
          </a:p>
          <a:p>
            <a:r>
              <a:rPr lang="en-US" sz="1800" dirty="0"/>
              <a:t>Generate their file hash</a:t>
            </a:r>
          </a:p>
          <a:p>
            <a:r>
              <a:rPr lang="en-US" sz="1800" dirty="0"/>
              <a:t>Check the hash on </a:t>
            </a:r>
            <a:r>
              <a:rPr lang="en-US" sz="1800" dirty="0" err="1"/>
              <a:t>VirusTotal</a:t>
            </a:r>
            <a:r>
              <a:rPr lang="en-US" sz="1800" dirty="0"/>
              <a:t> to see if it is known malware</a:t>
            </a:r>
          </a:p>
          <a:p>
            <a:pPr marL="0" indent="0">
              <a:buNone/>
            </a:pPr>
            <a:endParaRPr lang="en-US" sz="1800" dirty="0"/>
          </a:p>
          <a:p>
            <a:pPr marL="0" indent="0">
              <a:buNone/>
            </a:pPr>
            <a:r>
              <a:rPr lang="en-US" sz="1800" b="1" dirty="0"/>
              <a:t>Questions</a:t>
            </a:r>
            <a:endParaRPr lang="en-US" sz="1800" dirty="0"/>
          </a:p>
          <a:p>
            <a:r>
              <a:rPr lang="en-US" sz="1800" dirty="0"/>
              <a:t>What is the filename of the dumped files?</a:t>
            </a:r>
          </a:p>
          <a:p>
            <a:r>
              <a:rPr lang="en-US" sz="1800" dirty="0"/>
              <a:t>What is the MD5 hash of the file?</a:t>
            </a:r>
          </a:p>
          <a:p>
            <a:r>
              <a:rPr lang="en-US" sz="1800" dirty="0"/>
              <a:t>How many antivirus engines flagged it as malicious on </a:t>
            </a:r>
            <a:r>
              <a:rPr lang="en-US" sz="1800" dirty="0" err="1"/>
              <a:t>VirusTotal</a:t>
            </a:r>
            <a:r>
              <a:rPr lang="en-US" sz="1800" dirty="0"/>
              <a:t>?</a:t>
            </a:r>
          </a:p>
        </p:txBody>
      </p:sp>
    </p:spTree>
    <p:extLst>
      <p:ext uri="{BB962C8B-B14F-4D97-AF65-F5344CB8AC3E}">
        <p14:creationId xmlns:p14="http://schemas.microsoft.com/office/powerpoint/2010/main" val="1901040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524AE-674F-80DC-3950-89F286B6C06D}"/>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720CCC6E-599B-49BB-65E2-5BE2E4B8CE8A}"/>
              </a:ext>
            </a:extLst>
          </p:cNvPr>
          <p:cNvSpPr>
            <a:spLocks noGrp="1"/>
          </p:cNvSpPr>
          <p:nvPr>
            <p:ph type="title"/>
          </p:nvPr>
        </p:nvSpPr>
        <p:spPr>
          <a:xfrm>
            <a:off x="838200" y="365125"/>
            <a:ext cx="10515600" cy="1325563"/>
          </a:xfrm>
        </p:spPr>
        <p:txBody>
          <a:bodyPr/>
          <a:lstStyle/>
          <a:p>
            <a:r>
              <a:rPr lang="en-US" b="1" dirty="0">
                <a:solidFill>
                  <a:srgbClr val="163E64"/>
                </a:solidFill>
                <a:latin typeface="Calibri" panose="020F0502020204030204" pitchFamily="34" charset="0"/>
              </a:rPr>
              <a:t>Memory Exercise (B)</a:t>
            </a:r>
          </a:p>
        </p:txBody>
      </p:sp>
      <p:sp>
        <p:nvSpPr>
          <p:cNvPr id="3" name="Content Placeholder 2">
            <a:extLst>
              <a:ext uri="{FF2B5EF4-FFF2-40B4-BE49-F238E27FC236}">
                <a16:creationId xmlns:a16="http://schemas.microsoft.com/office/drawing/2014/main" id="{907CF366-6631-C3CB-46F8-E5B4B7C78F2B}"/>
              </a:ext>
            </a:extLst>
          </p:cNvPr>
          <p:cNvSpPr>
            <a:spLocks noGrp="1"/>
          </p:cNvSpPr>
          <p:nvPr>
            <p:ph idx="1"/>
          </p:nvPr>
        </p:nvSpPr>
        <p:spPr/>
        <p:txBody>
          <a:bodyPr>
            <a:noAutofit/>
          </a:bodyPr>
          <a:lstStyle/>
          <a:p>
            <a:pPr marL="0" indent="0">
              <a:buNone/>
            </a:pPr>
            <a:r>
              <a:rPr lang="en-US" sz="1800" b="1" dirty="0"/>
              <a:t>Step 6 — Give a brief summary of the malware found and its capabilities</a:t>
            </a:r>
          </a:p>
          <a:p>
            <a:pPr marL="0" indent="0">
              <a:buNone/>
            </a:pPr>
            <a:r>
              <a:rPr lang="en-US" sz="1800" dirty="0"/>
              <a:t>In real investigations, we don’t just find evidence — they must </a:t>
            </a:r>
            <a:r>
              <a:rPr lang="en-US" sz="1800" b="1" dirty="0"/>
              <a:t>explain what happened clearly</a:t>
            </a:r>
            <a:r>
              <a:rPr lang="en-US" sz="1800" dirty="0"/>
              <a:t>.</a:t>
            </a:r>
          </a:p>
          <a:p>
            <a:pPr marL="0" indent="0">
              <a:buNone/>
            </a:pPr>
            <a:r>
              <a:rPr lang="en-US" sz="1800" dirty="0"/>
              <a:t>Consolidate what you have discovered so far and prepare </a:t>
            </a:r>
            <a:r>
              <a:rPr lang="en-US" sz="1800" b="1" dirty="0"/>
              <a:t>a PowerPoint presentation</a:t>
            </a:r>
            <a:r>
              <a:rPr lang="en-US" sz="1800" dirty="0"/>
              <a:t> to present your findings. Make sure to include screenshots and the commands ran to get your results.</a:t>
            </a:r>
          </a:p>
          <a:p>
            <a:pPr marL="0" indent="0">
              <a:buNone/>
            </a:pPr>
            <a:r>
              <a:rPr lang="en-US" sz="1800" dirty="0"/>
              <a:t>Additionally, do some online research on the malware and provide a short summary of its capabilities as well as what you have learnt about this malware. (There are many sources of information online, read through a few and pick one you find interesting!)</a:t>
            </a:r>
          </a:p>
        </p:txBody>
      </p:sp>
    </p:spTree>
    <p:extLst>
      <p:ext uri="{BB962C8B-B14F-4D97-AF65-F5344CB8AC3E}">
        <p14:creationId xmlns:p14="http://schemas.microsoft.com/office/powerpoint/2010/main" val="670055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DA64F-B146-77BE-F629-0E92EDEA1789}"/>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CD09DB9F-1533-C3DE-6EDB-BB1217FDD1DE}"/>
              </a:ext>
            </a:extLst>
          </p:cNvPr>
          <p:cNvSpPr>
            <a:spLocks noGrp="1"/>
          </p:cNvSpPr>
          <p:nvPr>
            <p:ph type="title"/>
          </p:nvPr>
        </p:nvSpPr>
        <p:spPr>
          <a:xfrm>
            <a:off x="838200" y="365125"/>
            <a:ext cx="10515600" cy="1325563"/>
          </a:xfrm>
        </p:spPr>
        <p:txBody>
          <a:bodyPr/>
          <a:lstStyle/>
          <a:p>
            <a:r>
              <a:rPr lang="en-US" b="1" dirty="0">
                <a:solidFill>
                  <a:srgbClr val="163E64"/>
                </a:solidFill>
                <a:latin typeface="Calibri" panose="020F0502020204030204" pitchFamily="34" charset="0"/>
              </a:rPr>
              <a:t>Memory Exercise (C)</a:t>
            </a:r>
          </a:p>
        </p:txBody>
      </p:sp>
      <p:sp>
        <p:nvSpPr>
          <p:cNvPr id="3" name="Content Placeholder 2">
            <a:extLst>
              <a:ext uri="{FF2B5EF4-FFF2-40B4-BE49-F238E27FC236}">
                <a16:creationId xmlns:a16="http://schemas.microsoft.com/office/drawing/2014/main" id="{2CF889F6-2140-EFD2-F9A8-E5E38D3D0837}"/>
              </a:ext>
            </a:extLst>
          </p:cNvPr>
          <p:cNvSpPr>
            <a:spLocks noGrp="1"/>
          </p:cNvSpPr>
          <p:nvPr>
            <p:ph idx="1"/>
          </p:nvPr>
        </p:nvSpPr>
        <p:spPr/>
        <p:txBody>
          <a:bodyPr>
            <a:noAutofit/>
          </a:bodyPr>
          <a:lstStyle/>
          <a:p>
            <a:pPr marL="0" indent="0">
              <a:buNone/>
            </a:pPr>
            <a:r>
              <a:rPr lang="en-US" sz="1800" dirty="0"/>
              <a:t>A Windows system was suspected to be infected with malware similar to </a:t>
            </a:r>
            <a:r>
              <a:rPr lang="en-US" sz="1800" b="1" dirty="0" err="1"/>
              <a:t>Cridex</a:t>
            </a:r>
            <a:r>
              <a:rPr lang="en-US" sz="1800" dirty="0"/>
              <a:t>. You have been given a RAM memory dump from the infected system. </a:t>
            </a:r>
          </a:p>
          <a:p>
            <a:pPr algn="just"/>
            <a:r>
              <a:rPr lang="en-US" sz="1800" dirty="0"/>
              <a:t>Main Objective:</a:t>
            </a:r>
          </a:p>
          <a:p>
            <a:pPr lvl="1" algn="just"/>
            <a:r>
              <a:rPr lang="en-US" sz="1800" dirty="0"/>
              <a:t>Identify and list any malicious C2 connections </a:t>
            </a:r>
          </a:p>
          <a:p>
            <a:pPr lvl="1" algn="just"/>
            <a:r>
              <a:rPr lang="en-US" sz="1800" dirty="0"/>
              <a:t>Identify suspicious processes</a:t>
            </a:r>
          </a:p>
          <a:p>
            <a:pPr lvl="1" algn="just"/>
            <a:r>
              <a:rPr lang="en-US" sz="1800" dirty="0"/>
              <a:t>Identify any potential persistence mechanisms</a:t>
            </a:r>
          </a:p>
          <a:p>
            <a:pPr lvl="1" algn="just"/>
            <a:r>
              <a:rPr lang="en-US" sz="1800" dirty="0"/>
              <a:t>Give a brief summary of the malware found and its capabilities</a:t>
            </a:r>
          </a:p>
          <a:p>
            <a:pPr algn="just"/>
            <a:r>
              <a:rPr lang="en-US" sz="1800" dirty="0"/>
              <a:t>Evidence:</a:t>
            </a:r>
          </a:p>
          <a:p>
            <a:pPr lvl="1" algn="just"/>
            <a:r>
              <a:rPr lang="en-US" sz="1800" dirty="0" err="1"/>
              <a:t>Cridex.vmem</a:t>
            </a:r>
            <a:endParaRPr lang="en-US" sz="1800" dirty="0"/>
          </a:p>
          <a:p>
            <a:r>
              <a:rPr lang="en-US" sz="1800" dirty="0"/>
              <a:t>Use </a:t>
            </a:r>
            <a:r>
              <a:rPr lang="en-US" sz="1800" b="1" dirty="0"/>
              <a:t>Volatility</a:t>
            </a:r>
            <a:r>
              <a:rPr lang="en-US" sz="1800" dirty="0"/>
              <a:t> to investigate what happened on the system.</a:t>
            </a:r>
          </a:p>
        </p:txBody>
      </p:sp>
    </p:spTree>
    <p:extLst>
      <p:ext uri="{BB962C8B-B14F-4D97-AF65-F5344CB8AC3E}">
        <p14:creationId xmlns:p14="http://schemas.microsoft.com/office/powerpoint/2010/main" val="1561902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05A4B-6B3E-7C70-9EDC-F88A65B62FE8}"/>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C0F75A6C-59C8-6A4C-8879-4696DDCCF3CE}"/>
              </a:ext>
            </a:extLst>
          </p:cNvPr>
          <p:cNvSpPr>
            <a:spLocks noGrp="1"/>
          </p:cNvSpPr>
          <p:nvPr>
            <p:ph type="title"/>
          </p:nvPr>
        </p:nvSpPr>
        <p:spPr>
          <a:xfrm>
            <a:off x="838200" y="365125"/>
            <a:ext cx="10515600" cy="1325563"/>
          </a:xfrm>
        </p:spPr>
        <p:txBody>
          <a:bodyPr/>
          <a:lstStyle/>
          <a:p>
            <a:r>
              <a:rPr lang="en-US" b="1" dirty="0">
                <a:solidFill>
                  <a:srgbClr val="163E64"/>
                </a:solidFill>
                <a:latin typeface="Calibri" panose="020F0502020204030204" pitchFamily="34" charset="0"/>
              </a:rPr>
              <a:t>Memory Exercise (C)</a:t>
            </a:r>
          </a:p>
        </p:txBody>
      </p:sp>
      <p:sp>
        <p:nvSpPr>
          <p:cNvPr id="3" name="Content Placeholder 2">
            <a:extLst>
              <a:ext uri="{FF2B5EF4-FFF2-40B4-BE49-F238E27FC236}">
                <a16:creationId xmlns:a16="http://schemas.microsoft.com/office/drawing/2014/main" id="{191278C2-61AF-5B73-8A5C-0CE3277B14E5}"/>
              </a:ext>
            </a:extLst>
          </p:cNvPr>
          <p:cNvSpPr>
            <a:spLocks noGrp="1"/>
          </p:cNvSpPr>
          <p:nvPr>
            <p:ph idx="1"/>
          </p:nvPr>
        </p:nvSpPr>
        <p:spPr/>
        <p:txBody>
          <a:bodyPr>
            <a:noAutofit/>
          </a:bodyPr>
          <a:lstStyle/>
          <a:p>
            <a:pPr marL="0" indent="0">
              <a:buNone/>
            </a:pPr>
            <a:r>
              <a:rPr lang="en-US" sz="1800" b="1" dirty="0"/>
              <a:t>Step 1 — Identify the Operating System</a:t>
            </a:r>
          </a:p>
          <a:p>
            <a:r>
              <a:rPr lang="en-US" sz="1800" dirty="0"/>
              <a:t>Before running analysis, you must determine the Windows version used in the memory image.</a:t>
            </a:r>
          </a:p>
          <a:p>
            <a:pPr marL="0" indent="0">
              <a:buNone/>
            </a:pPr>
            <a:endParaRPr lang="en-US" sz="1800" dirty="0"/>
          </a:p>
          <a:p>
            <a:pPr marL="0" indent="0">
              <a:buNone/>
            </a:pPr>
            <a:r>
              <a:rPr lang="en-US" sz="1800" b="1" dirty="0"/>
              <a:t>Questions</a:t>
            </a:r>
          </a:p>
          <a:p>
            <a:r>
              <a:rPr lang="en-US" sz="1800" dirty="0"/>
              <a:t>What </a:t>
            </a:r>
            <a:r>
              <a:rPr lang="en-US" sz="1800" b="1" dirty="0"/>
              <a:t>Windows version</a:t>
            </a:r>
            <a:r>
              <a:rPr lang="en-US" sz="1800" dirty="0"/>
              <a:t> is the memory image running?</a:t>
            </a:r>
          </a:p>
          <a:p>
            <a:r>
              <a:rPr lang="en-US" sz="1800" dirty="0"/>
              <a:t>What </a:t>
            </a:r>
            <a:r>
              <a:rPr lang="en-US" sz="1800" b="1" dirty="0"/>
              <a:t>profile</a:t>
            </a:r>
            <a:r>
              <a:rPr lang="en-US" sz="1800" dirty="0"/>
              <a:t> should be used for further analysis?</a:t>
            </a:r>
          </a:p>
          <a:p>
            <a:pPr marL="0" indent="0" algn="just">
              <a:buNone/>
            </a:pPr>
            <a:endParaRPr lang="en-US" sz="1800" dirty="0"/>
          </a:p>
        </p:txBody>
      </p:sp>
    </p:spTree>
    <p:extLst>
      <p:ext uri="{BB962C8B-B14F-4D97-AF65-F5344CB8AC3E}">
        <p14:creationId xmlns:p14="http://schemas.microsoft.com/office/powerpoint/2010/main" val="3374055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42A95-0CAF-CCBC-C1DA-026011983021}"/>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ABEA6B06-49F0-E8FD-9BC8-0018D2BEC72C}"/>
              </a:ext>
            </a:extLst>
          </p:cNvPr>
          <p:cNvSpPr>
            <a:spLocks noGrp="1"/>
          </p:cNvSpPr>
          <p:nvPr>
            <p:ph type="title"/>
          </p:nvPr>
        </p:nvSpPr>
        <p:spPr>
          <a:xfrm>
            <a:off x="838200" y="365125"/>
            <a:ext cx="10515600" cy="1325563"/>
          </a:xfrm>
        </p:spPr>
        <p:txBody>
          <a:bodyPr/>
          <a:lstStyle/>
          <a:p>
            <a:r>
              <a:rPr lang="en-US" b="1" dirty="0">
                <a:solidFill>
                  <a:srgbClr val="163E64"/>
                </a:solidFill>
                <a:latin typeface="Calibri" panose="020F0502020204030204" pitchFamily="34" charset="0"/>
              </a:rPr>
              <a:t>Memory Exercise (C)</a:t>
            </a:r>
          </a:p>
        </p:txBody>
      </p:sp>
      <p:sp>
        <p:nvSpPr>
          <p:cNvPr id="3" name="Content Placeholder 2">
            <a:extLst>
              <a:ext uri="{FF2B5EF4-FFF2-40B4-BE49-F238E27FC236}">
                <a16:creationId xmlns:a16="http://schemas.microsoft.com/office/drawing/2014/main" id="{5E67426D-4F3B-3320-F4C3-10F010FC051A}"/>
              </a:ext>
            </a:extLst>
          </p:cNvPr>
          <p:cNvSpPr>
            <a:spLocks noGrp="1"/>
          </p:cNvSpPr>
          <p:nvPr>
            <p:ph idx="1"/>
          </p:nvPr>
        </p:nvSpPr>
        <p:spPr/>
        <p:txBody>
          <a:bodyPr>
            <a:noAutofit/>
          </a:bodyPr>
          <a:lstStyle/>
          <a:p>
            <a:pPr marL="0" indent="0">
              <a:buNone/>
            </a:pPr>
            <a:r>
              <a:rPr lang="en-US" sz="1800" b="1" dirty="0"/>
              <a:t>Step 2 — Identify and list any malicious C2 connections </a:t>
            </a:r>
          </a:p>
          <a:p>
            <a:r>
              <a:rPr lang="en-US" sz="1800" dirty="0"/>
              <a:t>Check if any program is communicating with external systems.</a:t>
            </a:r>
          </a:p>
          <a:p>
            <a:r>
              <a:rPr lang="en-US" sz="1800" dirty="0"/>
              <a:t>Malware often connects to a </a:t>
            </a:r>
            <a:r>
              <a:rPr lang="en-US" sz="1800" b="1" dirty="0"/>
              <a:t>Command &amp; Control (C2) server</a:t>
            </a:r>
            <a:r>
              <a:rPr lang="en-US" sz="1800" dirty="0"/>
              <a:t> to receive instructions.</a:t>
            </a:r>
          </a:p>
          <a:p>
            <a:endParaRPr lang="en-US" sz="1800" dirty="0"/>
          </a:p>
          <a:p>
            <a:pPr marL="0" indent="0">
              <a:buNone/>
            </a:pPr>
            <a:r>
              <a:rPr lang="en-US" sz="1800" b="1" dirty="0"/>
              <a:t>Questions</a:t>
            </a:r>
          </a:p>
          <a:p>
            <a:r>
              <a:rPr lang="en-US" sz="1800" dirty="0"/>
              <a:t>Which process has an active network connection?</a:t>
            </a:r>
          </a:p>
          <a:p>
            <a:r>
              <a:rPr lang="en-US" sz="1800" dirty="0"/>
              <a:t>What IP address is the suspicious process connecting to?</a:t>
            </a:r>
          </a:p>
          <a:p>
            <a:r>
              <a:rPr lang="en-US" sz="1800" dirty="0"/>
              <a:t>What port number is being used?</a:t>
            </a:r>
          </a:p>
          <a:p>
            <a:pPr marL="0" indent="0" algn="just">
              <a:buNone/>
            </a:pPr>
            <a:endParaRPr lang="en-US" sz="1800" dirty="0"/>
          </a:p>
        </p:txBody>
      </p:sp>
    </p:spTree>
    <p:extLst>
      <p:ext uri="{BB962C8B-B14F-4D97-AF65-F5344CB8AC3E}">
        <p14:creationId xmlns:p14="http://schemas.microsoft.com/office/powerpoint/2010/main" val="2197136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53842-32CE-DA17-81A5-A69E3853D6D4}"/>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D5243187-0021-B6B6-3FBB-414A12C66F87}"/>
              </a:ext>
            </a:extLst>
          </p:cNvPr>
          <p:cNvSpPr>
            <a:spLocks noGrp="1"/>
          </p:cNvSpPr>
          <p:nvPr>
            <p:ph type="title"/>
          </p:nvPr>
        </p:nvSpPr>
        <p:spPr>
          <a:xfrm>
            <a:off x="838200" y="365125"/>
            <a:ext cx="10515600" cy="1325563"/>
          </a:xfrm>
        </p:spPr>
        <p:txBody>
          <a:bodyPr/>
          <a:lstStyle/>
          <a:p>
            <a:r>
              <a:rPr lang="en-US" b="1" dirty="0">
                <a:solidFill>
                  <a:srgbClr val="163E64"/>
                </a:solidFill>
                <a:latin typeface="Calibri" panose="020F0502020204030204" pitchFamily="34" charset="0"/>
              </a:rPr>
              <a:t>Memory Exercise (C)</a:t>
            </a:r>
          </a:p>
        </p:txBody>
      </p:sp>
      <p:sp>
        <p:nvSpPr>
          <p:cNvPr id="3" name="Content Placeholder 2">
            <a:extLst>
              <a:ext uri="{FF2B5EF4-FFF2-40B4-BE49-F238E27FC236}">
                <a16:creationId xmlns:a16="http://schemas.microsoft.com/office/drawing/2014/main" id="{3CAED8C8-FCDD-7F70-FE3A-F2016540EB07}"/>
              </a:ext>
            </a:extLst>
          </p:cNvPr>
          <p:cNvSpPr>
            <a:spLocks noGrp="1"/>
          </p:cNvSpPr>
          <p:nvPr>
            <p:ph idx="1"/>
          </p:nvPr>
        </p:nvSpPr>
        <p:spPr/>
        <p:txBody>
          <a:bodyPr>
            <a:noAutofit/>
          </a:bodyPr>
          <a:lstStyle/>
          <a:p>
            <a:pPr marL="0" indent="0">
              <a:buNone/>
            </a:pPr>
            <a:r>
              <a:rPr lang="en-US" sz="1800" b="1" dirty="0"/>
              <a:t>Step 3 — Identify and list any suspicious processes</a:t>
            </a:r>
          </a:p>
          <a:p>
            <a:pPr marL="0" indent="0">
              <a:buNone/>
            </a:pPr>
            <a:r>
              <a:rPr lang="en-US" sz="1800" dirty="0"/>
              <a:t>Check if any processes are suspicious (e.g. notepad.exe running from command line, processes that have unusual names or unknown names)</a:t>
            </a:r>
          </a:p>
          <a:p>
            <a:endParaRPr lang="en-US" sz="1800" dirty="0"/>
          </a:p>
          <a:p>
            <a:pPr marL="0" indent="0">
              <a:buNone/>
            </a:pPr>
            <a:r>
              <a:rPr lang="en-US" sz="1800" b="1" dirty="0"/>
              <a:t>Questions</a:t>
            </a:r>
          </a:p>
          <a:p>
            <a:r>
              <a:rPr lang="en-US" sz="1800" dirty="0"/>
              <a:t>Can you identify any suspicious processes? Why is this process suspicious?</a:t>
            </a:r>
          </a:p>
          <a:p>
            <a:r>
              <a:rPr lang="en-US" sz="1800" dirty="0"/>
              <a:t>What is the PID of the suspicious process?</a:t>
            </a:r>
          </a:p>
          <a:p>
            <a:pPr marL="0" indent="0">
              <a:buNone/>
            </a:pPr>
            <a:endParaRPr lang="en-US" sz="1800" dirty="0"/>
          </a:p>
        </p:txBody>
      </p:sp>
    </p:spTree>
    <p:extLst>
      <p:ext uri="{BB962C8B-B14F-4D97-AF65-F5344CB8AC3E}">
        <p14:creationId xmlns:p14="http://schemas.microsoft.com/office/powerpoint/2010/main" val="59842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7628C-B02F-01D1-64A9-57DB7BDFCE9F}"/>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75293A6A-DBD2-01F3-7A8D-12502D936290}"/>
              </a:ext>
            </a:extLst>
          </p:cNvPr>
          <p:cNvSpPr>
            <a:spLocks noGrp="1"/>
          </p:cNvSpPr>
          <p:nvPr>
            <p:ph type="title"/>
          </p:nvPr>
        </p:nvSpPr>
        <p:spPr>
          <a:xfrm>
            <a:off x="838200" y="365125"/>
            <a:ext cx="10515600" cy="1325563"/>
          </a:xfrm>
        </p:spPr>
        <p:txBody>
          <a:bodyPr/>
          <a:lstStyle/>
          <a:p>
            <a:r>
              <a:rPr lang="en-US" b="1" dirty="0">
                <a:solidFill>
                  <a:srgbClr val="163E64"/>
                </a:solidFill>
                <a:latin typeface="Calibri" panose="020F0502020204030204" pitchFamily="34" charset="0"/>
              </a:rPr>
              <a:t>Memory Exercise (C)</a:t>
            </a:r>
          </a:p>
        </p:txBody>
      </p:sp>
      <p:sp>
        <p:nvSpPr>
          <p:cNvPr id="3" name="Content Placeholder 2">
            <a:extLst>
              <a:ext uri="{FF2B5EF4-FFF2-40B4-BE49-F238E27FC236}">
                <a16:creationId xmlns:a16="http://schemas.microsoft.com/office/drawing/2014/main" id="{0AFE40EB-2EB0-CCB3-B983-7419C38DCDC7}"/>
              </a:ext>
            </a:extLst>
          </p:cNvPr>
          <p:cNvSpPr>
            <a:spLocks noGrp="1"/>
          </p:cNvSpPr>
          <p:nvPr>
            <p:ph idx="1"/>
          </p:nvPr>
        </p:nvSpPr>
        <p:spPr/>
        <p:txBody>
          <a:bodyPr>
            <a:noAutofit/>
          </a:bodyPr>
          <a:lstStyle/>
          <a:p>
            <a:pPr marL="0" indent="0">
              <a:buNone/>
            </a:pPr>
            <a:r>
              <a:rPr lang="en-US" sz="1800" b="1" dirty="0"/>
              <a:t>Step 4 — Check for Code Injection</a:t>
            </a:r>
          </a:p>
          <a:p>
            <a:pPr marL="0" indent="0">
              <a:buNone/>
            </a:pPr>
            <a:r>
              <a:rPr lang="en-US" sz="1800" dirty="0"/>
              <a:t>Code injection is a technique where malware </a:t>
            </a:r>
            <a:r>
              <a:rPr lang="en-US" sz="1800" b="1" dirty="0"/>
              <a:t>hides inside a normal program</a:t>
            </a:r>
            <a:r>
              <a:rPr lang="en-US" sz="1800" dirty="0"/>
              <a:t> by inserting its own malicious code into that program’s memory. If a trusted process is:</a:t>
            </a:r>
          </a:p>
          <a:p>
            <a:pPr lvl="1"/>
            <a:r>
              <a:rPr lang="en-US" sz="1800" dirty="0"/>
              <a:t>Running unknown code</a:t>
            </a:r>
          </a:p>
          <a:p>
            <a:pPr lvl="1"/>
            <a:r>
              <a:rPr lang="en-US" sz="1800" dirty="0"/>
              <a:t>Communicating with suspicious IPs</a:t>
            </a:r>
          </a:p>
          <a:p>
            <a:pPr marL="0" indent="0">
              <a:buNone/>
            </a:pPr>
            <a:r>
              <a:rPr lang="en-US" sz="1800" dirty="0"/>
              <a:t>… it may indicate code injection!</a:t>
            </a:r>
          </a:p>
          <a:p>
            <a:pPr marL="0" indent="0">
              <a:buNone/>
            </a:pPr>
            <a:endParaRPr lang="en-US" sz="1800" dirty="0"/>
          </a:p>
          <a:p>
            <a:pPr marL="0" indent="0">
              <a:buNone/>
            </a:pPr>
            <a:r>
              <a:rPr lang="en-US" sz="1800" b="1" dirty="0"/>
              <a:t>Questions</a:t>
            </a:r>
          </a:p>
          <a:p>
            <a:r>
              <a:rPr lang="en-US" sz="1800" dirty="0"/>
              <a:t>Which process shows signs of injected code?</a:t>
            </a:r>
          </a:p>
          <a:p>
            <a:r>
              <a:rPr lang="en-US" sz="1800" dirty="0"/>
              <a:t>What is the PID of that process?</a:t>
            </a:r>
          </a:p>
          <a:p>
            <a:pPr marL="0" indent="0" algn="just">
              <a:buNone/>
            </a:pPr>
            <a:endParaRPr lang="en-US" sz="1800" dirty="0"/>
          </a:p>
          <a:p>
            <a:pPr marL="0" indent="0" algn="just">
              <a:buNone/>
            </a:pPr>
            <a:r>
              <a:rPr lang="en-US" sz="1800" dirty="0"/>
              <a:t>Look for suspicious memory regions marked as PAGE_EXECUTE_READWRITE</a:t>
            </a:r>
          </a:p>
        </p:txBody>
      </p:sp>
      <p:sp>
        <p:nvSpPr>
          <p:cNvPr id="6" name="TextBox 5">
            <a:extLst>
              <a:ext uri="{FF2B5EF4-FFF2-40B4-BE49-F238E27FC236}">
                <a16:creationId xmlns:a16="http://schemas.microsoft.com/office/drawing/2014/main" id="{21E44FDC-03F9-1D86-EDAE-B35F4183EFB0}"/>
              </a:ext>
            </a:extLst>
          </p:cNvPr>
          <p:cNvSpPr txBox="1"/>
          <p:nvPr/>
        </p:nvSpPr>
        <p:spPr>
          <a:xfrm>
            <a:off x="999122" y="5730508"/>
            <a:ext cx="10123030" cy="883383"/>
          </a:xfrm>
          <a:prstGeom prst="rect">
            <a:avLst/>
          </a:prstGeom>
          <a:solidFill>
            <a:schemeClr val="bg1">
              <a:lumMod val="85000"/>
            </a:schemeClr>
          </a:solidFill>
          <a:ln>
            <a:solidFill>
              <a:schemeClr val="tx1"/>
            </a:solidFill>
          </a:ln>
        </p:spPr>
        <p:txBody>
          <a:bodyPr wrap="square" rtlCol="0" anchor="ctr">
            <a:spAutoFit/>
          </a:bodyPr>
          <a:lstStyle/>
          <a:p>
            <a:pPr algn="ctr">
              <a:lnSpc>
                <a:spcPct val="150000"/>
              </a:lnSpc>
            </a:pPr>
            <a:r>
              <a:rPr lang="en-SG" b="1" dirty="0"/>
              <a:t>Hint!</a:t>
            </a:r>
          </a:p>
          <a:p>
            <a:pPr algn="ctr">
              <a:lnSpc>
                <a:spcPct val="150000"/>
              </a:lnSpc>
            </a:pPr>
            <a:endParaRPr lang="en-SG" b="1" dirty="0"/>
          </a:p>
        </p:txBody>
      </p:sp>
    </p:spTree>
    <p:extLst>
      <p:ext uri="{BB962C8B-B14F-4D97-AF65-F5344CB8AC3E}">
        <p14:creationId xmlns:p14="http://schemas.microsoft.com/office/powerpoint/2010/main" val="579712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childTnLst>
              </p:cTn>
              <p:nextCondLst>
                <p:cond evt="onClick" delay="0">
                  <p:tgtEl>
                    <p:spTgt spid="6"/>
                  </p:tgtEl>
                </p:cond>
              </p:nextCondLst>
            </p:seq>
          </p:childTnLst>
        </p:cTn>
      </p:par>
    </p:tnLst>
    <p:bldLst>
      <p:bldP spid="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22ECE-A8AC-6653-011E-B03CE8656119}"/>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86B89A7C-0DB9-B897-DE51-19C96D112CEF}"/>
              </a:ext>
            </a:extLst>
          </p:cNvPr>
          <p:cNvSpPr>
            <a:spLocks noGrp="1"/>
          </p:cNvSpPr>
          <p:nvPr>
            <p:ph type="title"/>
          </p:nvPr>
        </p:nvSpPr>
        <p:spPr>
          <a:xfrm>
            <a:off x="838200" y="365125"/>
            <a:ext cx="10515600" cy="1325563"/>
          </a:xfrm>
        </p:spPr>
        <p:txBody>
          <a:bodyPr/>
          <a:lstStyle/>
          <a:p>
            <a:r>
              <a:rPr lang="en-US" b="1" dirty="0">
                <a:solidFill>
                  <a:srgbClr val="163E64"/>
                </a:solidFill>
                <a:latin typeface="Calibri" panose="020F0502020204030204" pitchFamily="34" charset="0"/>
              </a:rPr>
              <a:t>Memory Exercise (C)</a:t>
            </a:r>
          </a:p>
        </p:txBody>
      </p:sp>
      <p:sp>
        <p:nvSpPr>
          <p:cNvPr id="3" name="Content Placeholder 2">
            <a:extLst>
              <a:ext uri="{FF2B5EF4-FFF2-40B4-BE49-F238E27FC236}">
                <a16:creationId xmlns:a16="http://schemas.microsoft.com/office/drawing/2014/main" id="{0ED0D77B-8113-7124-2D30-8CCEC809C183}"/>
              </a:ext>
            </a:extLst>
          </p:cNvPr>
          <p:cNvSpPr>
            <a:spLocks noGrp="1"/>
          </p:cNvSpPr>
          <p:nvPr>
            <p:ph idx="1"/>
          </p:nvPr>
        </p:nvSpPr>
        <p:spPr/>
        <p:txBody>
          <a:bodyPr>
            <a:noAutofit/>
          </a:bodyPr>
          <a:lstStyle/>
          <a:p>
            <a:pPr marL="0" indent="0">
              <a:buNone/>
            </a:pPr>
            <a:r>
              <a:rPr lang="en-US" sz="1800" b="1" dirty="0"/>
              <a:t>Step 4.1 — Dump and verify the Suspicious Process</a:t>
            </a:r>
          </a:p>
          <a:p>
            <a:pPr marL="0" indent="0">
              <a:buNone/>
            </a:pPr>
            <a:r>
              <a:rPr lang="en-US" sz="1800" dirty="0"/>
              <a:t>Once you have identified a suspicious process (from </a:t>
            </a:r>
            <a:r>
              <a:rPr lang="en-US" sz="1800" b="1" dirty="0"/>
              <a:t>Step 3 / 4</a:t>
            </a:r>
            <a:r>
              <a:rPr lang="en-US" sz="1800" dirty="0"/>
              <a:t>), you can extract it from memory and check if it is malicious. We will do the following steps:</a:t>
            </a:r>
          </a:p>
          <a:p>
            <a:r>
              <a:rPr lang="en-US" sz="1800" dirty="0"/>
              <a:t>Extract (dump) the process from memory</a:t>
            </a:r>
          </a:p>
          <a:p>
            <a:r>
              <a:rPr lang="en-US" sz="1800" dirty="0"/>
              <a:t>Generate its file hash</a:t>
            </a:r>
          </a:p>
          <a:p>
            <a:r>
              <a:rPr lang="en-US" sz="1800" dirty="0"/>
              <a:t>Check the hash on </a:t>
            </a:r>
            <a:r>
              <a:rPr lang="en-US" sz="1800" dirty="0" err="1"/>
              <a:t>VirusTotal</a:t>
            </a:r>
            <a:r>
              <a:rPr lang="en-US" sz="1800" dirty="0"/>
              <a:t> to see if it is known malware</a:t>
            </a:r>
          </a:p>
          <a:p>
            <a:pPr marL="0" indent="0">
              <a:buNone/>
            </a:pPr>
            <a:endParaRPr lang="en-US" sz="1800" dirty="0"/>
          </a:p>
          <a:p>
            <a:pPr marL="0" indent="0">
              <a:buNone/>
            </a:pPr>
            <a:r>
              <a:rPr lang="en-US" sz="1800" b="1" dirty="0"/>
              <a:t>Questions</a:t>
            </a:r>
            <a:endParaRPr lang="en-US" sz="1800" dirty="0"/>
          </a:p>
          <a:p>
            <a:r>
              <a:rPr lang="en-US" sz="1800" dirty="0"/>
              <a:t>What is the filename of the dumped process?</a:t>
            </a:r>
          </a:p>
          <a:p>
            <a:r>
              <a:rPr lang="en-US" sz="1800" dirty="0"/>
              <a:t>What is the MD5 hash of the file?</a:t>
            </a:r>
          </a:p>
          <a:p>
            <a:r>
              <a:rPr lang="en-US" sz="1800" dirty="0"/>
              <a:t>How many antivirus engines flagged it as malicious on </a:t>
            </a:r>
            <a:r>
              <a:rPr lang="en-US" sz="1800" dirty="0" err="1"/>
              <a:t>VirusTotal</a:t>
            </a:r>
            <a:r>
              <a:rPr lang="en-US" sz="1800" dirty="0"/>
              <a:t>?</a:t>
            </a:r>
          </a:p>
        </p:txBody>
      </p:sp>
    </p:spTree>
    <p:extLst>
      <p:ext uri="{BB962C8B-B14F-4D97-AF65-F5344CB8AC3E}">
        <p14:creationId xmlns:p14="http://schemas.microsoft.com/office/powerpoint/2010/main" val="2895817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9C8F3-65FD-6AF9-C51C-259E59F38D86}"/>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18603B05-4BE9-E265-0327-F8A63FEAFE79}"/>
              </a:ext>
            </a:extLst>
          </p:cNvPr>
          <p:cNvSpPr>
            <a:spLocks noGrp="1"/>
          </p:cNvSpPr>
          <p:nvPr>
            <p:ph type="title"/>
          </p:nvPr>
        </p:nvSpPr>
        <p:spPr>
          <a:xfrm>
            <a:off x="838200" y="365125"/>
            <a:ext cx="10515600" cy="1325563"/>
          </a:xfrm>
        </p:spPr>
        <p:txBody>
          <a:bodyPr/>
          <a:lstStyle/>
          <a:p>
            <a:r>
              <a:rPr lang="en-US" b="1" dirty="0">
                <a:solidFill>
                  <a:srgbClr val="163E64"/>
                </a:solidFill>
                <a:latin typeface="Calibri" panose="020F0502020204030204" pitchFamily="34" charset="0"/>
              </a:rPr>
              <a:t>Memory Exercise (C)</a:t>
            </a:r>
          </a:p>
        </p:txBody>
      </p:sp>
      <p:sp>
        <p:nvSpPr>
          <p:cNvPr id="3" name="Content Placeholder 2">
            <a:extLst>
              <a:ext uri="{FF2B5EF4-FFF2-40B4-BE49-F238E27FC236}">
                <a16:creationId xmlns:a16="http://schemas.microsoft.com/office/drawing/2014/main" id="{06505308-5B6F-FF01-FD20-BBE79DB2C9AD}"/>
              </a:ext>
            </a:extLst>
          </p:cNvPr>
          <p:cNvSpPr>
            <a:spLocks noGrp="1"/>
          </p:cNvSpPr>
          <p:nvPr>
            <p:ph idx="1"/>
          </p:nvPr>
        </p:nvSpPr>
        <p:spPr/>
        <p:txBody>
          <a:bodyPr>
            <a:noAutofit/>
          </a:bodyPr>
          <a:lstStyle/>
          <a:p>
            <a:pPr marL="0" indent="0">
              <a:buNone/>
            </a:pPr>
            <a:r>
              <a:rPr lang="en-US" sz="1800" b="1" dirty="0"/>
              <a:t>Step 5 — Check for Persistence</a:t>
            </a:r>
          </a:p>
          <a:p>
            <a:pPr marL="0" indent="0">
              <a:buNone/>
            </a:pPr>
            <a:r>
              <a:rPr lang="en-US" sz="1800" dirty="0"/>
              <a:t>Persistence is a technique used by malware to </a:t>
            </a:r>
            <a:r>
              <a:rPr lang="en-US" sz="1800" b="1" dirty="0"/>
              <a:t>stay on a system even after it is restarted</a:t>
            </a:r>
            <a:r>
              <a:rPr lang="en-US" sz="1800" dirty="0"/>
              <a:t>. Normally, when you reboot a computer, most programs stop running. However, malware can create ways to </a:t>
            </a:r>
            <a:r>
              <a:rPr lang="en-US" sz="1800" b="1" dirty="0"/>
              <a:t>automatically start again</a:t>
            </a:r>
            <a:r>
              <a:rPr lang="en-US" sz="1800" dirty="0"/>
              <a:t> every time the system boots.</a:t>
            </a:r>
          </a:p>
          <a:p>
            <a:pPr marL="0" indent="0">
              <a:buNone/>
            </a:pPr>
            <a:r>
              <a:rPr lang="en-US" sz="1800" dirty="0"/>
              <a:t>Common Persistence methods include:</a:t>
            </a:r>
          </a:p>
          <a:p>
            <a:pPr lvl="1"/>
            <a:r>
              <a:rPr lang="en-US" sz="1800" dirty="0"/>
              <a:t>Startup programs (run automatically when Windows starts)</a:t>
            </a:r>
          </a:p>
          <a:p>
            <a:pPr lvl="1"/>
            <a:r>
              <a:rPr lang="en-US" sz="1800" dirty="0"/>
              <a:t>Registry keys (e.g., Run / </a:t>
            </a:r>
            <a:r>
              <a:rPr lang="en-US" sz="1800" dirty="0" err="1"/>
              <a:t>RunOnce</a:t>
            </a:r>
            <a:r>
              <a:rPr lang="en-US" sz="1800" dirty="0"/>
              <a:t>)</a:t>
            </a:r>
          </a:p>
          <a:p>
            <a:pPr lvl="1"/>
            <a:r>
              <a:rPr lang="en-US" sz="1800" dirty="0"/>
              <a:t>Scheduled tasks or services</a:t>
            </a:r>
            <a:endParaRPr lang="en-US" sz="1800" b="1" dirty="0"/>
          </a:p>
          <a:p>
            <a:pPr marL="0" indent="0">
              <a:buNone/>
            </a:pPr>
            <a:r>
              <a:rPr lang="en-US" sz="1800" b="1" dirty="0"/>
              <a:t>Questions</a:t>
            </a:r>
          </a:p>
          <a:p>
            <a:r>
              <a:rPr lang="en-US" sz="1800" dirty="0"/>
              <a:t>Is there any suspicious program configured to </a:t>
            </a:r>
            <a:r>
              <a:rPr lang="en-US" sz="1800" b="1" dirty="0"/>
              <a:t>start automatically</a:t>
            </a:r>
            <a:r>
              <a:rPr lang="en-US" sz="1800" dirty="0"/>
              <a:t>?</a:t>
            </a:r>
          </a:p>
          <a:p>
            <a:pPr marL="0" indent="0">
              <a:buNone/>
            </a:pPr>
            <a:endParaRPr lang="en-US" sz="1800" dirty="0"/>
          </a:p>
          <a:p>
            <a:pPr marL="0" indent="0">
              <a:buNone/>
            </a:pPr>
            <a:r>
              <a:rPr lang="en-SG" sz="1800" b="1" dirty="0">
                <a:latin typeface="Consolas" panose="020B0609020204030204" pitchFamily="49" charset="0"/>
              </a:rPr>
              <a:t>Use a Volatility module to access this registry key: "Microsoft\\Windows NT\\CurrentVersion\\Run"</a:t>
            </a:r>
            <a:endParaRPr lang="en-US" sz="1800" dirty="0"/>
          </a:p>
        </p:txBody>
      </p:sp>
      <p:sp>
        <p:nvSpPr>
          <p:cNvPr id="6" name="TextBox 5">
            <a:extLst>
              <a:ext uri="{FF2B5EF4-FFF2-40B4-BE49-F238E27FC236}">
                <a16:creationId xmlns:a16="http://schemas.microsoft.com/office/drawing/2014/main" id="{768ABAA1-B114-05BA-51FC-422EAB1E32E7}"/>
              </a:ext>
            </a:extLst>
          </p:cNvPr>
          <p:cNvSpPr txBox="1"/>
          <p:nvPr/>
        </p:nvSpPr>
        <p:spPr>
          <a:xfrm>
            <a:off x="838200" y="5730508"/>
            <a:ext cx="10123030" cy="883383"/>
          </a:xfrm>
          <a:prstGeom prst="rect">
            <a:avLst/>
          </a:prstGeom>
          <a:solidFill>
            <a:schemeClr val="bg1">
              <a:lumMod val="85000"/>
            </a:schemeClr>
          </a:solidFill>
          <a:ln>
            <a:solidFill>
              <a:schemeClr val="tx1"/>
            </a:solidFill>
          </a:ln>
        </p:spPr>
        <p:txBody>
          <a:bodyPr wrap="square" rtlCol="0" anchor="ctr">
            <a:spAutoFit/>
          </a:bodyPr>
          <a:lstStyle/>
          <a:p>
            <a:pPr algn="ctr">
              <a:lnSpc>
                <a:spcPct val="150000"/>
              </a:lnSpc>
            </a:pPr>
            <a:r>
              <a:rPr lang="en-SG" b="1" dirty="0"/>
              <a:t>Hint!</a:t>
            </a:r>
          </a:p>
          <a:p>
            <a:pPr algn="ctr">
              <a:lnSpc>
                <a:spcPct val="150000"/>
              </a:lnSpc>
            </a:pPr>
            <a:endParaRPr lang="en-SG" b="1" dirty="0"/>
          </a:p>
        </p:txBody>
      </p:sp>
    </p:spTree>
    <p:extLst>
      <p:ext uri="{BB962C8B-B14F-4D97-AF65-F5344CB8AC3E}">
        <p14:creationId xmlns:p14="http://schemas.microsoft.com/office/powerpoint/2010/main" val="3735488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childTnLst>
              </p:cTn>
              <p:nextCondLst>
                <p:cond evt="onClick" delay="0">
                  <p:tgtEl>
                    <p:spTgt spid="6"/>
                  </p:tgtEl>
                </p:cond>
              </p:nextCondLst>
            </p:seq>
          </p:childTnLst>
        </p:cTn>
      </p:par>
    </p:tnLst>
    <p:bldLst>
      <p:bldP spid="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4F17E-8908-8433-5C97-D09F0D2423BB}"/>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3B37233F-763F-E084-BD50-9A0AAB25AE1B}"/>
              </a:ext>
            </a:extLst>
          </p:cNvPr>
          <p:cNvSpPr>
            <a:spLocks noGrp="1"/>
          </p:cNvSpPr>
          <p:nvPr>
            <p:ph type="title"/>
          </p:nvPr>
        </p:nvSpPr>
        <p:spPr>
          <a:xfrm>
            <a:off x="838200" y="365125"/>
            <a:ext cx="10515600" cy="1325563"/>
          </a:xfrm>
        </p:spPr>
        <p:txBody>
          <a:bodyPr/>
          <a:lstStyle/>
          <a:p>
            <a:r>
              <a:rPr lang="en-US" b="1" dirty="0">
                <a:solidFill>
                  <a:srgbClr val="163E64"/>
                </a:solidFill>
                <a:latin typeface="Calibri" panose="020F0502020204030204" pitchFamily="34" charset="0"/>
              </a:rPr>
              <a:t>Memory Exercise (C)</a:t>
            </a:r>
          </a:p>
        </p:txBody>
      </p:sp>
      <p:sp>
        <p:nvSpPr>
          <p:cNvPr id="3" name="Content Placeholder 2">
            <a:extLst>
              <a:ext uri="{FF2B5EF4-FFF2-40B4-BE49-F238E27FC236}">
                <a16:creationId xmlns:a16="http://schemas.microsoft.com/office/drawing/2014/main" id="{4E046DD5-B692-CA76-AFA7-AC2FADB5B4E6}"/>
              </a:ext>
            </a:extLst>
          </p:cNvPr>
          <p:cNvSpPr>
            <a:spLocks noGrp="1"/>
          </p:cNvSpPr>
          <p:nvPr>
            <p:ph idx="1"/>
          </p:nvPr>
        </p:nvSpPr>
        <p:spPr/>
        <p:txBody>
          <a:bodyPr>
            <a:noAutofit/>
          </a:bodyPr>
          <a:lstStyle/>
          <a:p>
            <a:pPr marL="0" indent="0">
              <a:buNone/>
            </a:pPr>
            <a:r>
              <a:rPr lang="en-US" sz="1800" b="1" dirty="0"/>
              <a:t>Step 5.1 — Dump and verify the Suspicious Files</a:t>
            </a:r>
          </a:p>
          <a:p>
            <a:pPr marL="0" indent="0">
              <a:buNone/>
            </a:pPr>
            <a:r>
              <a:rPr lang="en-US" sz="1800" dirty="0"/>
              <a:t>Likewise, for the suspicious files, you can extract them from memory and verify that they are malicious. We will do the following steps:</a:t>
            </a:r>
          </a:p>
          <a:p>
            <a:r>
              <a:rPr lang="en-US" sz="1800" dirty="0"/>
              <a:t>Extract (dump) the files (You will need to find the physical address of the files, use the </a:t>
            </a:r>
            <a:r>
              <a:rPr lang="en-US" sz="1800" b="1" dirty="0" err="1"/>
              <a:t>filescan</a:t>
            </a:r>
            <a:r>
              <a:rPr lang="en-US" sz="1800" dirty="0"/>
              <a:t> plugin!)</a:t>
            </a:r>
          </a:p>
          <a:p>
            <a:r>
              <a:rPr lang="en-US" sz="1800" dirty="0"/>
              <a:t>Generate their file hash</a:t>
            </a:r>
          </a:p>
          <a:p>
            <a:r>
              <a:rPr lang="en-US" sz="1800" dirty="0"/>
              <a:t>Check the hash on </a:t>
            </a:r>
            <a:r>
              <a:rPr lang="en-US" sz="1800" dirty="0" err="1"/>
              <a:t>VirusTotal</a:t>
            </a:r>
            <a:r>
              <a:rPr lang="en-US" sz="1800" dirty="0"/>
              <a:t> to see if it is known malware</a:t>
            </a:r>
          </a:p>
          <a:p>
            <a:pPr marL="0" indent="0">
              <a:buNone/>
            </a:pPr>
            <a:endParaRPr lang="en-US" sz="1800" dirty="0"/>
          </a:p>
          <a:p>
            <a:pPr marL="0" indent="0">
              <a:buNone/>
            </a:pPr>
            <a:r>
              <a:rPr lang="en-US" sz="1800" b="1" dirty="0"/>
              <a:t>Questions</a:t>
            </a:r>
            <a:endParaRPr lang="en-US" sz="1800" dirty="0"/>
          </a:p>
          <a:p>
            <a:r>
              <a:rPr lang="en-US" sz="1800" dirty="0"/>
              <a:t>What is the filename of the dumped files?</a:t>
            </a:r>
          </a:p>
          <a:p>
            <a:r>
              <a:rPr lang="en-US" sz="1800" dirty="0"/>
              <a:t>What is the MD5 hash of the file?</a:t>
            </a:r>
          </a:p>
          <a:p>
            <a:r>
              <a:rPr lang="en-US" sz="1800" dirty="0"/>
              <a:t>How many antivirus engines flagged it as malicious on VirusTotal?</a:t>
            </a:r>
          </a:p>
        </p:txBody>
      </p:sp>
    </p:spTree>
    <p:extLst>
      <p:ext uri="{BB962C8B-B14F-4D97-AF65-F5344CB8AC3E}">
        <p14:creationId xmlns:p14="http://schemas.microsoft.com/office/powerpoint/2010/main" val="3365865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657CA-B7E5-1E94-3AD3-7233B866C8EA}"/>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CECC2EA4-690F-9F0C-4D78-A5FFE55B757A}"/>
              </a:ext>
            </a:extLst>
          </p:cNvPr>
          <p:cNvSpPr>
            <a:spLocks noGrp="1"/>
          </p:cNvSpPr>
          <p:nvPr>
            <p:ph type="title"/>
          </p:nvPr>
        </p:nvSpPr>
        <p:spPr>
          <a:xfrm>
            <a:off x="838200" y="365125"/>
            <a:ext cx="10515600" cy="1325563"/>
          </a:xfrm>
        </p:spPr>
        <p:txBody>
          <a:bodyPr/>
          <a:lstStyle/>
          <a:p>
            <a:r>
              <a:rPr lang="en-US" b="1" dirty="0">
                <a:solidFill>
                  <a:srgbClr val="163E64"/>
                </a:solidFill>
                <a:latin typeface="Calibri" panose="020F0502020204030204" pitchFamily="34" charset="0"/>
              </a:rPr>
              <a:t>Memory Exercise (C)</a:t>
            </a:r>
          </a:p>
        </p:txBody>
      </p:sp>
      <p:sp>
        <p:nvSpPr>
          <p:cNvPr id="3" name="Content Placeholder 2">
            <a:extLst>
              <a:ext uri="{FF2B5EF4-FFF2-40B4-BE49-F238E27FC236}">
                <a16:creationId xmlns:a16="http://schemas.microsoft.com/office/drawing/2014/main" id="{3A19DEA4-1FC5-4660-EC6A-90891FD9D169}"/>
              </a:ext>
            </a:extLst>
          </p:cNvPr>
          <p:cNvSpPr>
            <a:spLocks noGrp="1"/>
          </p:cNvSpPr>
          <p:nvPr>
            <p:ph idx="1"/>
          </p:nvPr>
        </p:nvSpPr>
        <p:spPr/>
        <p:txBody>
          <a:bodyPr>
            <a:noAutofit/>
          </a:bodyPr>
          <a:lstStyle/>
          <a:p>
            <a:pPr marL="0" indent="0">
              <a:buNone/>
            </a:pPr>
            <a:r>
              <a:rPr lang="en-US" sz="1800" b="1" dirty="0"/>
              <a:t>Step 6 — Give a brief summary of the malware found and its capabilities</a:t>
            </a:r>
          </a:p>
          <a:p>
            <a:pPr marL="0" indent="0">
              <a:buNone/>
            </a:pPr>
            <a:r>
              <a:rPr lang="en-US" sz="1800" dirty="0"/>
              <a:t>In real investigations, we don’t just find evidence — they must </a:t>
            </a:r>
            <a:r>
              <a:rPr lang="en-US" sz="1800" b="1" dirty="0"/>
              <a:t>explain what happened clearly</a:t>
            </a:r>
            <a:r>
              <a:rPr lang="en-US" sz="1800" dirty="0"/>
              <a:t>.</a:t>
            </a:r>
          </a:p>
          <a:p>
            <a:pPr marL="0" indent="0">
              <a:buNone/>
            </a:pPr>
            <a:r>
              <a:rPr lang="en-US" sz="1800" dirty="0"/>
              <a:t>Consolidate what you have discovered so far and prepare </a:t>
            </a:r>
            <a:r>
              <a:rPr lang="en-US" sz="1800" b="1" dirty="0"/>
              <a:t>a PowerPoint presentation</a:t>
            </a:r>
            <a:r>
              <a:rPr lang="en-US" sz="1800" dirty="0"/>
              <a:t> to present your findings. Make sure to include screenshots and the commands ran to get your results.</a:t>
            </a:r>
          </a:p>
          <a:p>
            <a:pPr marL="0" indent="0">
              <a:buNone/>
            </a:pPr>
            <a:r>
              <a:rPr lang="en-US" sz="1800" dirty="0"/>
              <a:t>Additionally, do some online research on the malware and provide a short summary of its capabilities as well as what you have learnt about this malware. (There are many sources of information online, read through a few and pick one you find interesting!)</a:t>
            </a:r>
          </a:p>
        </p:txBody>
      </p:sp>
    </p:spTree>
    <p:extLst>
      <p:ext uri="{BB962C8B-B14F-4D97-AF65-F5344CB8AC3E}">
        <p14:creationId xmlns:p14="http://schemas.microsoft.com/office/powerpoint/2010/main" val="39389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242D6-AB9C-5340-1861-184127544A65}"/>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9B88638C-2B85-0B48-117B-1CF330B24462}"/>
              </a:ext>
            </a:extLst>
          </p:cNvPr>
          <p:cNvSpPr>
            <a:spLocks noGrp="1"/>
          </p:cNvSpPr>
          <p:nvPr>
            <p:ph type="title"/>
          </p:nvPr>
        </p:nvSpPr>
        <p:spPr>
          <a:xfrm>
            <a:off x="838200" y="365125"/>
            <a:ext cx="10515600" cy="1325563"/>
          </a:xfrm>
        </p:spPr>
        <p:txBody>
          <a:bodyPr/>
          <a:lstStyle/>
          <a:p>
            <a:r>
              <a:rPr lang="en-US" b="1" dirty="0">
                <a:solidFill>
                  <a:srgbClr val="163E64"/>
                </a:solidFill>
                <a:latin typeface="Calibri" panose="020F0502020204030204" pitchFamily="34" charset="0"/>
              </a:rPr>
              <a:t>Disk Exercises (A)</a:t>
            </a:r>
          </a:p>
        </p:txBody>
      </p:sp>
      <p:sp>
        <p:nvSpPr>
          <p:cNvPr id="3" name="Content Placeholder 2">
            <a:extLst>
              <a:ext uri="{FF2B5EF4-FFF2-40B4-BE49-F238E27FC236}">
                <a16:creationId xmlns:a16="http://schemas.microsoft.com/office/drawing/2014/main" id="{4B1B800B-BAAB-C8C5-C168-5810F0D672AC}"/>
              </a:ext>
            </a:extLst>
          </p:cNvPr>
          <p:cNvSpPr>
            <a:spLocks noGrp="1"/>
          </p:cNvSpPr>
          <p:nvPr>
            <p:ph idx="1"/>
          </p:nvPr>
        </p:nvSpPr>
        <p:spPr/>
        <p:txBody>
          <a:bodyPr>
            <a:noAutofit/>
          </a:bodyPr>
          <a:lstStyle/>
          <a:p>
            <a:pPr algn="just"/>
            <a:r>
              <a:rPr lang="en-US" sz="1800" dirty="0"/>
              <a:t>Description: </a:t>
            </a:r>
          </a:p>
          <a:p>
            <a:pPr lvl="1" algn="just"/>
            <a:r>
              <a:rPr lang="en-US" sz="1800" dirty="0"/>
              <a:t>You are tasked to investigate a disappearance of a girl who left for a party. Initial clues point the investigations towards the girl’s computer logs. With the provided forensic image of the computer, establish the file metadata and the required information relevant to the investigation. </a:t>
            </a:r>
          </a:p>
          <a:p>
            <a:pPr algn="just"/>
            <a:r>
              <a:rPr lang="en-US" sz="1800" dirty="0"/>
              <a:t>Questions:</a:t>
            </a:r>
          </a:p>
          <a:p>
            <a:pPr lvl="1" algn="just"/>
            <a:r>
              <a:rPr lang="en-US" sz="1800" dirty="0"/>
              <a:t>What is the girl’s name, and what phone does she use? (Hint: Find a picture with a phone, and check its properties)</a:t>
            </a:r>
          </a:p>
          <a:p>
            <a:pPr lvl="1" algn="just"/>
            <a:r>
              <a:rPr lang="en-US" sz="1800" dirty="0"/>
              <a:t>What is the version number of the girl's email software? </a:t>
            </a:r>
          </a:p>
          <a:p>
            <a:pPr lvl="1" algn="just"/>
            <a:r>
              <a:rPr lang="en-US" sz="1800" dirty="0"/>
              <a:t>Who has recently invited the girl to meet up?</a:t>
            </a:r>
          </a:p>
          <a:p>
            <a:pPr lvl="1" algn="just"/>
            <a:r>
              <a:rPr lang="en-US" sz="1800" dirty="0"/>
              <a:t>Find the password used for the chat app (Hint: Decode it once in Base64 and observe what happens. Maybe you need to decode it multiple times…)</a:t>
            </a:r>
          </a:p>
          <a:p>
            <a:pPr algn="just"/>
            <a:r>
              <a:rPr lang="en-US" sz="1800" dirty="0"/>
              <a:t>Evidence:</a:t>
            </a:r>
          </a:p>
          <a:p>
            <a:pPr lvl="1" algn="just"/>
            <a:r>
              <a:rPr lang="en-US" sz="1800" dirty="0"/>
              <a:t>Party.e01</a:t>
            </a:r>
          </a:p>
        </p:txBody>
      </p:sp>
    </p:spTree>
    <p:extLst>
      <p:ext uri="{BB962C8B-B14F-4D97-AF65-F5344CB8AC3E}">
        <p14:creationId xmlns:p14="http://schemas.microsoft.com/office/powerpoint/2010/main" val="1217532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8AA26-F8D5-2B10-C7B3-BCA6311FABBB}"/>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78E671A5-0921-3C68-447E-545DF6823AB1}"/>
              </a:ext>
            </a:extLst>
          </p:cNvPr>
          <p:cNvSpPr>
            <a:spLocks noGrp="1"/>
          </p:cNvSpPr>
          <p:nvPr>
            <p:ph type="title"/>
          </p:nvPr>
        </p:nvSpPr>
        <p:spPr>
          <a:xfrm>
            <a:off x="838200" y="365125"/>
            <a:ext cx="10515600" cy="1325563"/>
          </a:xfrm>
        </p:spPr>
        <p:txBody>
          <a:bodyPr/>
          <a:lstStyle/>
          <a:p>
            <a:r>
              <a:rPr lang="en-US" b="1" dirty="0">
                <a:solidFill>
                  <a:srgbClr val="163E64"/>
                </a:solidFill>
                <a:latin typeface="Calibri" panose="020F0502020204030204" pitchFamily="34" charset="0"/>
              </a:rPr>
              <a:t>Disk Exercises (B)</a:t>
            </a:r>
          </a:p>
        </p:txBody>
      </p:sp>
      <p:sp>
        <p:nvSpPr>
          <p:cNvPr id="3" name="Content Placeholder 2">
            <a:extLst>
              <a:ext uri="{FF2B5EF4-FFF2-40B4-BE49-F238E27FC236}">
                <a16:creationId xmlns:a16="http://schemas.microsoft.com/office/drawing/2014/main" id="{93154A0B-06CB-D545-D38F-FA5C860CA009}"/>
              </a:ext>
            </a:extLst>
          </p:cNvPr>
          <p:cNvSpPr>
            <a:spLocks noGrp="1"/>
          </p:cNvSpPr>
          <p:nvPr>
            <p:ph idx="1"/>
          </p:nvPr>
        </p:nvSpPr>
        <p:spPr/>
        <p:txBody>
          <a:bodyPr>
            <a:noAutofit/>
          </a:bodyPr>
          <a:lstStyle/>
          <a:p>
            <a:pPr algn="just"/>
            <a:r>
              <a:rPr lang="en-US" sz="1800" dirty="0"/>
              <a:t>Description: </a:t>
            </a:r>
          </a:p>
          <a:p>
            <a:pPr lvl="1" algn="just"/>
            <a:r>
              <a:rPr lang="en-US" sz="1800" dirty="0"/>
              <a:t>You are tasked to investigate suspected identity theft activities. With the provided forensic image of the computer, establish the file metadata and the required information relevant to the investigation. </a:t>
            </a:r>
          </a:p>
          <a:p>
            <a:pPr algn="just"/>
            <a:r>
              <a:rPr lang="en-US" sz="1800" dirty="0"/>
              <a:t>Questions:</a:t>
            </a:r>
          </a:p>
          <a:p>
            <a:pPr lvl="1" algn="just"/>
            <a:r>
              <a:rPr lang="en-US" sz="1800" dirty="0"/>
              <a:t>What suspicious / sensitive files were sent to the Recycle Bin?</a:t>
            </a:r>
          </a:p>
          <a:p>
            <a:pPr lvl="1" algn="just"/>
            <a:r>
              <a:rPr lang="en-US" sz="1800" dirty="0"/>
              <a:t>Find the user who sent the files to the recycle bin. (Hint: Extract the SOFTWARE hive, open it in registry explorer and find the ProfileList folder!)</a:t>
            </a:r>
          </a:p>
          <a:p>
            <a:pPr lvl="1" algn="just"/>
            <a:r>
              <a:rPr lang="en-US" sz="1800" dirty="0"/>
              <a:t>What software was used to encode the files in the process of the identity theft?</a:t>
            </a:r>
          </a:p>
          <a:p>
            <a:pPr lvl="1" algn="just"/>
            <a:r>
              <a:rPr lang="en-US" sz="1800" dirty="0"/>
              <a:t>What search engine did the User “Jimmy Wilson” use to search for: how to steal identities?</a:t>
            </a:r>
          </a:p>
          <a:p>
            <a:pPr algn="just"/>
            <a:r>
              <a:rPr lang="en-US" sz="1800" dirty="0"/>
              <a:t>Evidence:</a:t>
            </a:r>
          </a:p>
          <a:p>
            <a:pPr lvl="1" algn="just"/>
            <a:r>
              <a:rPr lang="en-US" sz="1800" dirty="0"/>
              <a:t>Jimmy.e01</a:t>
            </a:r>
          </a:p>
        </p:txBody>
      </p:sp>
    </p:spTree>
    <p:extLst>
      <p:ext uri="{BB962C8B-B14F-4D97-AF65-F5344CB8AC3E}">
        <p14:creationId xmlns:p14="http://schemas.microsoft.com/office/powerpoint/2010/main" val="4127781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4A239-F0F9-F671-97EC-28E2D707B042}"/>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F0548CA9-21A8-2909-EE42-7FE8F5315012}"/>
              </a:ext>
            </a:extLst>
          </p:cNvPr>
          <p:cNvSpPr>
            <a:spLocks noGrp="1"/>
          </p:cNvSpPr>
          <p:nvPr>
            <p:ph type="title"/>
          </p:nvPr>
        </p:nvSpPr>
        <p:spPr>
          <a:xfrm>
            <a:off x="838200" y="365125"/>
            <a:ext cx="10515600" cy="1325563"/>
          </a:xfrm>
        </p:spPr>
        <p:txBody>
          <a:bodyPr/>
          <a:lstStyle/>
          <a:p>
            <a:r>
              <a:rPr lang="en-US" b="1" dirty="0">
                <a:solidFill>
                  <a:srgbClr val="163E64"/>
                </a:solidFill>
                <a:latin typeface="Calibri" panose="020F0502020204030204" pitchFamily="34" charset="0"/>
              </a:rPr>
              <a:t>Disk Exercises (C)</a:t>
            </a:r>
          </a:p>
        </p:txBody>
      </p:sp>
      <p:sp>
        <p:nvSpPr>
          <p:cNvPr id="3" name="Content Placeholder 2">
            <a:extLst>
              <a:ext uri="{FF2B5EF4-FFF2-40B4-BE49-F238E27FC236}">
                <a16:creationId xmlns:a16="http://schemas.microsoft.com/office/drawing/2014/main" id="{D50AAE28-0B81-D720-CEAF-C304577D9F74}"/>
              </a:ext>
            </a:extLst>
          </p:cNvPr>
          <p:cNvSpPr>
            <a:spLocks noGrp="1"/>
          </p:cNvSpPr>
          <p:nvPr>
            <p:ph idx="1"/>
          </p:nvPr>
        </p:nvSpPr>
        <p:spPr/>
        <p:txBody>
          <a:bodyPr>
            <a:noAutofit/>
          </a:bodyPr>
          <a:lstStyle/>
          <a:p>
            <a:pPr algn="just"/>
            <a:r>
              <a:rPr lang="en-US" sz="1800" dirty="0"/>
              <a:t>Description: </a:t>
            </a:r>
          </a:p>
          <a:p>
            <a:pPr lvl="1" algn="just"/>
            <a:r>
              <a:rPr lang="en-US" sz="1800" dirty="0"/>
              <a:t>A son of a high-profile person was kidnapped, his laptop was seized and you are tasked to analyze the computer. With the provided forensic image of the computer, establish the file metadata and the required information relevant to the investigation. </a:t>
            </a:r>
          </a:p>
          <a:p>
            <a:pPr algn="just"/>
            <a:r>
              <a:rPr lang="en-US" sz="1800" dirty="0"/>
              <a:t>Questions:</a:t>
            </a:r>
          </a:p>
          <a:p>
            <a:pPr lvl="1" algn="just"/>
            <a:r>
              <a:rPr lang="en-US" sz="1800" dirty="0"/>
              <a:t>List all users of the laptop</a:t>
            </a:r>
          </a:p>
          <a:p>
            <a:pPr lvl="1" algn="just"/>
            <a:r>
              <a:rPr lang="en-US" sz="1800" dirty="0"/>
              <a:t>What web application was used by the boy to earn his pocket money? (Hint: He sells something illegal…)</a:t>
            </a:r>
          </a:p>
          <a:p>
            <a:pPr lvl="1" algn="just"/>
            <a:r>
              <a:rPr lang="en-US" sz="1800" dirty="0"/>
              <a:t>Which BTC wallet did the boy use?</a:t>
            </a:r>
          </a:p>
          <a:p>
            <a:pPr lvl="1" algn="just"/>
            <a:r>
              <a:rPr lang="en-US" sz="1800" dirty="0"/>
              <a:t>On which date does the kid's database show the most sales for "Acapulco Gold"? (Hint: The password is in an email somewhere…)</a:t>
            </a:r>
          </a:p>
          <a:p>
            <a:pPr algn="just"/>
            <a:r>
              <a:rPr lang="en-US" sz="1800" dirty="0"/>
              <a:t>Evidence:</a:t>
            </a:r>
          </a:p>
          <a:p>
            <a:pPr lvl="1" algn="just"/>
            <a:r>
              <a:rPr lang="en-US" sz="1800" dirty="0"/>
              <a:t>Kidnap.e01</a:t>
            </a:r>
          </a:p>
        </p:txBody>
      </p:sp>
    </p:spTree>
    <p:extLst>
      <p:ext uri="{BB962C8B-B14F-4D97-AF65-F5344CB8AC3E}">
        <p14:creationId xmlns:p14="http://schemas.microsoft.com/office/powerpoint/2010/main" val="861434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5199E-FF33-7050-652A-5C69CB2C6128}"/>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76EEB324-2100-8B11-C389-AA47C5298ACF}"/>
              </a:ext>
            </a:extLst>
          </p:cNvPr>
          <p:cNvSpPr>
            <a:spLocks noGrp="1"/>
          </p:cNvSpPr>
          <p:nvPr>
            <p:ph type="title"/>
          </p:nvPr>
        </p:nvSpPr>
        <p:spPr/>
        <p:txBody>
          <a:bodyPr/>
          <a:lstStyle/>
          <a:p>
            <a:r>
              <a:rPr lang="en-US" b="1" dirty="0">
                <a:solidFill>
                  <a:srgbClr val="163E64"/>
                </a:solidFill>
                <a:latin typeface="Calibri" panose="020F0502020204030204" pitchFamily="34" charset="0"/>
              </a:rPr>
              <a:t>Cellphone Exercise</a:t>
            </a:r>
          </a:p>
        </p:txBody>
      </p:sp>
      <p:sp>
        <p:nvSpPr>
          <p:cNvPr id="3" name="Content Placeholder 2">
            <a:extLst>
              <a:ext uri="{FF2B5EF4-FFF2-40B4-BE49-F238E27FC236}">
                <a16:creationId xmlns:a16="http://schemas.microsoft.com/office/drawing/2014/main" id="{8DC36DDA-15EC-69B9-6EBE-0C5D98BC44E0}"/>
              </a:ext>
            </a:extLst>
          </p:cNvPr>
          <p:cNvSpPr>
            <a:spLocks noGrp="1"/>
          </p:cNvSpPr>
          <p:nvPr>
            <p:ph idx="1"/>
          </p:nvPr>
        </p:nvSpPr>
        <p:spPr/>
        <p:txBody>
          <a:bodyPr>
            <a:noAutofit/>
          </a:bodyPr>
          <a:lstStyle/>
          <a:p>
            <a:pPr algn="just"/>
            <a:r>
              <a:rPr lang="en-US" sz="1800" dirty="0"/>
              <a:t>Description: </a:t>
            </a:r>
          </a:p>
          <a:p>
            <a:pPr lvl="1" algn="just"/>
            <a:r>
              <a:rPr lang="en-US" sz="1800" dirty="0"/>
              <a:t>A physical acquisition of an Android device containing evidence of a conspiracy. Find out artifacts and evidence to support the investigation.</a:t>
            </a:r>
          </a:p>
          <a:p>
            <a:pPr algn="just"/>
            <a:r>
              <a:rPr lang="en-US" sz="1800" dirty="0"/>
              <a:t>Questions:</a:t>
            </a:r>
          </a:p>
          <a:p>
            <a:pPr lvl="1" algn="just"/>
            <a:r>
              <a:rPr lang="en-US" sz="1800" dirty="0"/>
              <a:t>What is the IMEI and Build Number of the device?</a:t>
            </a:r>
          </a:p>
          <a:p>
            <a:pPr lvl="1" algn="just"/>
            <a:r>
              <a:rPr lang="en-US" sz="1800" dirty="0"/>
              <a:t>Find a deleted message in the LINE directory. What type of artifact is this, and what does it tell you about user activity? </a:t>
            </a:r>
          </a:p>
          <a:p>
            <a:pPr lvl="1" algn="just"/>
            <a:r>
              <a:rPr lang="en-US" sz="1800" dirty="0"/>
              <a:t>Were there any images that were deleted from the phone?</a:t>
            </a:r>
          </a:p>
          <a:p>
            <a:pPr lvl="1" algn="just"/>
            <a:r>
              <a:rPr lang="en-US" sz="1800" dirty="0"/>
              <a:t>What was the distance of the user’s most recent run that was recorded?</a:t>
            </a:r>
          </a:p>
          <a:p>
            <a:pPr algn="just"/>
            <a:r>
              <a:rPr lang="en-US" sz="1800" dirty="0"/>
              <a:t>Evidence:</a:t>
            </a:r>
          </a:p>
          <a:p>
            <a:pPr lvl="1" algn="just"/>
            <a:r>
              <a:rPr lang="en-US" sz="1800" dirty="0"/>
              <a:t>Josh Hickman’s Android 12 Image (Public Repo)</a:t>
            </a:r>
          </a:p>
        </p:txBody>
      </p:sp>
      <p:sp>
        <p:nvSpPr>
          <p:cNvPr id="5" name="Slide Number Placeholder 4">
            <a:extLst>
              <a:ext uri="{FF2B5EF4-FFF2-40B4-BE49-F238E27FC236}">
                <a16:creationId xmlns:a16="http://schemas.microsoft.com/office/drawing/2014/main" id="{AF9F9504-9BE7-2558-36EA-5570DF4318A0}"/>
              </a:ext>
            </a:extLst>
          </p:cNvPr>
          <p:cNvSpPr>
            <a:spLocks noGrp="1"/>
          </p:cNvSpPr>
          <p:nvPr>
            <p:ph type="sldNum" sz="quarter" idx="12"/>
          </p:nvPr>
        </p:nvSpPr>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625EB417-4EC6-40A3-8089-FFEE676A186A}"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37</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615675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TM03090434[[fn=Wood Type]]</Template>
  <TotalTime>6414</TotalTime>
  <Words>3852</Words>
  <Application>Microsoft Office PowerPoint</Application>
  <PresentationFormat>Widescreen</PresentationFormat>
  <Paragraphs>417</Paragraphs>
  <Slides>37</Slides>
  <Notes>37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Aptos</vt:lpstr>
      <vt:lpstr>Calibri</vt:lpstr>
      <vt:lpstr>Consolas</vt:lpstr>
      <vt:lpstr>Rockwell</vt:lpstr>
      <vt:lpstr>Rockwell Condensed</vt:lpstr>
      <vt:lpstr>Wingdings</vt:lpstr>
      <vt:lpstr>Wood Type</vt:lpstr>
      <vt:lpstr>Assignment</vt:lpstr>
      <vt:lpstr>Cyber Exercises</vt:lpstr>
      <vt:lpstr>Network Exercise (A)</vt:lpstr>
      <vt:lpstr>Network Exercise (B)</vt:lpstr>
      <vt:lpstr>Network Exercise (C)</vt:lpstr>
      <vt:lpstr>Memory Exercise (A)</vt:lpstr>
      <vt:lpstr>Memory Exercise (A)</vt:lpstr>
      <vt:lpstr>Memory Exercise (A)</vt:lpstr>
      <vt:lpstr>Memory Exercise (A)</vt:lpstr>
      <vt:lpstr>Memory Exercise (A)</vt:lpstr>
      <vt:lpstr>Memory Exercise (A)</vt:lpstr>
      <vt:lpstr>Memory Exercise (A)</vt:lpstr>
      <vt:lpstr>Memory Exercise (A)</vt:lpstr>
      <vt:lpstr>Memory Exercise (A)</vt:lpstr>
      <vt:lpstr>Memory Exercise (B)</vt:lpstr>
      <vt:lpstr>Memory Exercise (B)</vt:lpstr>
      <vt:lpstr>Memory Exercise (B)</vt:lpstr>
      <vt:lpstr>Memory Exercise (B)</vt:lpstr>
      <vt:lpstr>Memory Exercise (B)</vt:lpstr>
      <vt:lpstr>Memory Exercise (B)</vt:lpstr>
      <vt:lpstr>Memory Exercise (B)</vt:lpstr>
      <vt:lpstr>Memory Exercise (B)</vt:lpstr>
      <vt:lpstr>Memory Exercise (B)</vt:lpstr>
      <vt:lpstr>Memory Exercise (B)</vt:lpstr>
      <vt:lpstr>Memory Exercise (C)</vt:lpstr>
      <vt:lpstr>Memory Exercise (C)</vt:lpstr>
      <vt:lpstr>Memory Exercise (C)</vt:lpstr>
      <vt:lpstr>Memory Exercise (C)</vt:lpstr>
      <vt:lpstr>Memory Exercise (C)</vt:lpstr>
      <vt:lpstr>Memory Exercise (C)</vt:lpstr>
      <vt:lpstr>Memory Exercise (C)</vt:lpstr>
      <vt:lpstr>Memory Exercise (C)</vt:lpstr>
      <vt:lpstr>Memory Exercise (C)</vt:lpstr>
      <vt:lpstr>Disk Exercises (A)</vt:lpstr>
      <vt:lpstr>Disk Exercises (B)</vt:lpstr>
      <vt:lpstr>Disk Exercises (C)</vt:lpstr>
      <vt:lpstr>Cellphone Exercise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FOO CE ZHI (MINDEF)</dc:creator>
  <cp:lastModifiedBy>Zheng yong Tan</cp:lastModifiedBy>
  <cp:revision>336</cp:revision>
  <dcterms:created xsi:type="dcterms:W3CDTF">2025-10-15T02:21:01Z</dcterms:created>
  <dcterms:modified xsi:type="dcterms:W3CDTF">2026-03-21T11:47:18Z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05819a8-3ff8-44dd-98f3-d662a938267f_Enabled">
    <vt:lpwstr>true</vt:lpwstr>
  </property>
  <property fmtid="{D5CDD505-2E9C-101B-9397-08002B2CF9AE}" pid="3" name="MSIP_Label_c05819a8-3ff8-44dd-98f3-d662a938267f_SetDate">
    <vt:lpwstr>2025-10-15T02:23:31Z</vt:lpwstr>
  </property>
  <property fmtid="{D5CDD505-2E9C-101B-9397-08002B2CF9AE}" pid="4" name="MSIP_Label_c05819a8-3ff8-44dd-98f3-d662a938267f_Method">
    <vt:lpwstr>Privileged</vt:lpwstr>
  </property>
  <property fmtid="{D5CDD505-2E9C-101B-9397-08002B2CF9AE}" pid="5" name="MSIP_Label_c05819a8-3ff8-44dd-98f3-d662a938267f_Name">
    <vt:lpwstr>Official Closed Sensitive Normal</vt:lpwstr>
  </property>
  <property fmtid="{D5CDD505-2E9C-101B-9397-08002B2CF9AE}" pid="6" name="MSIP_Label_c05819a8-3ff8-44dd-98f3-d662a938267f_SiteId">
    <vt:lpwstr>17558ced-9068-439c-bdf1-fe9f9e07f45e</vt:lpwstr>
  </property>
  <property fmtid="{D5CDD505-2E9C-101B-9397-08002B2CF9AE}" pid="7" name="MSIP_Label_c05819a8-3ff8-44dd-98f3-d662a938267f_ActionId">
    <vt:lpwstr>643acb13-41cc-49a5-be3b-28fba26d20d3</vt:lpwstr>
  </property>
  <property fmtid="{D5CDD505-2E9C-101B-9397-08002B2CF9AE}" pid="8" name="MSIP_Label_c05819a8-3ff8-44dd-98f3-d662a938267f_ContentBits">
    <vt:lpwstr>0</vt:lpwstr>
  </property>
  <property fmtid="{D5CDD505-2E9C-101B-9397-08002B2CF9AE}" pid="9" name="MSIP_Label_c05819a8-3ff8-44dd-98f3-d662a938267f_Tag">
    <vt:lpwstr>10, 0, 1, 1</vt:lpwstr>
  </property>
</Properties>
</file>